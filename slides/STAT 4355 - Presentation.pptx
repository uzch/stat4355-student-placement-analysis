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Lexend SemiBold"/>
      <p:regular r:id="rId27"/>
      <p:bold r:id="rId28"/>
    </p:embeddedFont>
    <p:embeddedFont>
      <p:font typeface="Lexend Light"/>
      <p:regular r:id="rId29"/>
      <p:bold r:id="rId30"/>
    </p:embeddedFont>
    <p:embeddedFont>
      <p:font typeface="Lexend Medium"/>
      <p:regular r:id="rId31"/>
      <p:bold r:id="rId32"/>
    </p:embeddedFont>
    <p:embeddedFont>
      <p:font typeface="Lexen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7A19E0-3F8D-4AFD-8FCE-A83EFF4DBA8C}">
  <a:tblStyle styleId="{757A19E0-3F8D-4AFD-8FCE-A83EFF4DBA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xendSemiBold-bold.fntdata"/><Relationship Id="rId27" Type="http://schemas.openxmlformats.org/officeDocument/2006/relationships/font" Target="fonts/Lexend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exendMedium-regular.fntdata"/><Relationship Id="rId30" Type="http://schemas.openxmlformats.org/officeDocument/2006/relationships/font" Target="fonts/LexendLight-bold.fntdata"/><Relationship Id="rId11" Type="http://schemas.openxmlformats.org/officeDocument/2006/relationships/slide" Target="slides/slide5.xml"/><Relationship Id="rId33" Type="http://schemas.openxmlformats.org/officeDocument/2006/relationships/font" Target="fonts/Lexend-regular.fntdata"/><Relationship Id="rId10" Type="http://schemas.openxmlformats.org/officeDocument/2006/relationships/slide" Target="slides/slide4.xml"/><Relationship Id="rId32" Type="http://schemas.openxmlformats.org/officeDocument/2006/relationships/font" Target="fonts/Lexend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Lexen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daa45554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3daa45554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3daa45554f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1" name="Google Shape;1901;g3daa45554f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3daa45554f9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3daa45554f9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3daa45554f9_0_2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3daa45554f9_0_2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g3daa45554f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9" name="Google Shape;1989;g3daa45554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3dc24c43d05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3dc24c43d0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g3dc24c43d05_5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3dc24c43d05_5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3dc24c43d05_5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3dc24c43d05_5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3df039f1a7f_3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3df039f1a7f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3df039f1a7f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3df039f1a7f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3dde1109f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0" name="Google Shape;2090;g3dde1109f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3df039f1a7f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g3df039f1a7f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g3df039f1a7f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4" name="Google Shape;2114;g3df039f1a7f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3dc24c43d05_5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3dc24c43d05_5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3daa45554f9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3daa45554f9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3dc24c43d05_5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3dc24c43d05_5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df039f1a7f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df039f1a7f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g3dc24c43d05_5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9" name="Google Shape;2169;g3dc24c43d05_5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3daa45554f9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9" name="Google Shape;2179;g3daa45554f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g3dc24c43d05_5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6" name="Google Shape;2196;g3dc24c43d05_5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" name="Google Shape;19;p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" name="Google Shape;78;p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" name="Google Shape;81;p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" name="Google Shape;82;p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" name="Google Shape;87;p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4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4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4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5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23" name="Google Shape;223;p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6" name="Google Shape;286;p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6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90" name="Google Shape;290;p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7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3" name="Google Shape;353;p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4" name="Google Shape;354;p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6" name="Google Shape;416;p8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18" name="Google Shape;418;p8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26" name="Google Shape;426;p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5" name="Google Shape;485;p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86" name="Google Shape;486;p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9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2" name="Google Shape;492;p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1" name="Google Shape;551;p1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52" name="Google Shape;552;p1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4" name="Google Shape;554;p1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1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57" name="Google Shape;557;p1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6" name="Google Shape;616;p1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17" name="Google Shape;617;p1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9" name="Google Shape;619;p11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0" name="Google Shape;620;p1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1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23" name="Google Shape;623;p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7" name="Google Shape;667;p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8" name="Google Shape;668;p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82" name="Google Shape;682;p1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3" name="Google Shape;683;p1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12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6" name="Google Shape;686;p12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1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90" name="Google Shape;690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49" name="Google Shape;749;p1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0" name="Google Shape;750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1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55" name="Google Shape;755;p1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14" name="Google Shape;814;p1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15" name="Google Shape;81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4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4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4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9" name="Google Shape;819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81" name="Google Shape;881;p1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82" name="Google Shape;882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7" name="Google Shape;887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8" name="Google Shape;8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2" name="Google Shape;89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3" name="Google Shape;89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94" name="Google Shape;8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97" name="Google Shape;897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6" name="Google Shape;956;p1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57" name="Google Shape;95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9" name="Google Shape;959;p18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3" name="Google Shape;963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2" name="Google Shape;1022;p1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23" name="Google Shape;1023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9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5" name="Google Shape;102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28" name="Google Shape;1028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7" name="Google Shape;1087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88" name="Google Shape;1088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0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90" name="Google Shape;1090;p20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4" name="Google Shape;1094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3" name="Google Shape;1153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4" name="Google Shape;1154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8" name="Google Shape;1158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162" name="Google Shape;1162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3" name="Google Shape;1163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2" name="Google Shape;122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23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23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23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3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3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23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33" name="Google Shape;1233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34" name="Google Shape;1234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3" name="Google Shape;1273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4" name="Google Shape;1274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93" name="Google Shape;1293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5" name="Google Shape;1295;p24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6" name="Google Shape;1296;p24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297" name="Google Shape;1297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00" name="Google Shape;1300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1" name="Google Shape;1301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9" name="Google Shape;1339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1" name="Google Shape;1341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0" name="Google Shape;1360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25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3" name="Google Shape;1363;p25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25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5" name="Google Shape;1365;p25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69" name="Google Shape;136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0" name="Google Shape;137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5" name="Google Shape;140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6" name="Google Shape;140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9" name="Google Shape;1429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26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2" name="Google Shape;1432;p26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26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4" name="Google Shape;1434;p26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p26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6" name="Google Shape;1436;p26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7" name="Google Shape;1437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40" name="Google Shape;1440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41" name="Google Shape;1441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00" name="Google Shape;1500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2" name="Google Shape;1502;p27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3" name="Google Shape;1503;p27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27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5" name="Google Shape;1505;p27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27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7" name="Google Shape;1507;p27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27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9" name="Google Shape;1509;p27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13" name="Google Shape;1513;p2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14" name="Google Shape;1514;p2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2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2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2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2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2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2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2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2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2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2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5" name="Google Shape;1545;p2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6" name="Google Shape;1546;p2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7" name="Google Shape;1547;p2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8" name="Google Shape;1548;p2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9" name="Google Shape;1549;p2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0" name="Google Shape;1550;p2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1" name="Google Shape;1551;p2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2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2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2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3" name="Google Shape;1573;p2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5" name="Google Shape;1575;p28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76" name="Google Shape;1576;p2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79" name="Google Shape;1579;p2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80" name="Google Shape;1580;p2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2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2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2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2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2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2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2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2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2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2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2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8" name="Google Shape;1618;p2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2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9" name="Google Shape;1639;p2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1" name="Google Shape;1641;p29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2" name="Google Shape;1642;p29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29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4" name="Google Shape;1644;p29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29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6" name="Google Shape;1646;p29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7" name="Google Shape;1647;p2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50" name="Google Shape;1650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51" name="Google Shape;1651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10" name="Google Shape;1710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2" name="Google Shape;1712;p30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3" name="Google Shape;1713;p30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30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5" name="Google Shape;1715;p30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6" name="Google Shape;1716;p30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7" name="Google Shape;1717;p30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8" name="Google Shape;1718;p30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9" name="Google Shape;1719;p30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30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21" name="Google Shape;1721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25" name="Google Shape;1725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4" name="Google Shape;1784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1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86" name="Google Shape;1786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89" name="Google Shape;1789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90" name="Google Shape;1790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9" name="Google Shape;1829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0" name="Google Shape;1830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9" name="Google Shape;1849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2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1" name="Google Shape;1851;p32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2" name="Google Shape;1852;p32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3" name="Google Shape;1853;p32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4" name="Google Shape;1854;p32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5" name="Google Shape;1855;p32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6" name="Google Shape;1856;p32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7" name="Google Shape;1857;p32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8" name="Google Shape;1858;p32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9" name="Google Shape;1859;p32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60" name="Google Shape;1860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33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 May 2026</a:t>
            </a:r>
            <a:endParaRPr/>
          </a:p>
        </p:txBody>
      </p:sp>
      <p:sp>
        <p:nvSpPr>
          <p:cNvPr id="1866" name="Google Shape;1866;p33"/>
          <p:cNvSpPr txBox="1"/>
          <p:nvPr>
            <p:ph type="title"/>
          </p:nvPr>
        </p:nvSpPr>
        <p:spPr>
          <a:xfrm>
            <a:off x="208725" y="369000"/>
            <a:ext cx="8083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 Placement Salary Analysis</a:t>
            </a:r>
            <a:endParaRPr/>
          </a:p>
        </p:txBody>
      </p:sp>
      <p:sp>
        <p:nvSpPr>
          <p:cNvPr id="1867" name="Google Shape;1867;p33"/>
          <p:cNvSpPr txBox="1"/>
          <p:nvPr>
            <p:ph idx="3" type="body"/>
          </p:nvPr>
        </p:nvSpPr>
        <p:spPr>
          <a:xfrm>
            <a:off x="167325" y="-39600"/>
            <a:ext cx="4294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Group 3: Nafisa Aurny, </a:t>
            </a:r>
            <a:r>
              <a:rPr b="1" lang="en"/>
              <a:t>Uzayr Chaudhry, </a:t>
            </a:r>
            <a:r>
              <a:rPr b="1" lang="en"/>
              <a:t>David Mwaria, Ruth Picazo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1868" name="Google Shape;1868;p33"/>
          <p:cNvGrpSpPr/>
          <p:nvPr/>
        </p:nvGrpSpPr>
        <p:grpSpPr>
          <a:xfrm>
            <a:off x="1966534" y="2623075"/>
            <a:ext cx="5210945" cy="2242155"/>
            <a:chOff x="2267909" y="2831175"/>
            <a:chExt cx="4608193" cy="1982804"/>
          </a:xfrm>
        </p:grpSpPr>
        <p:grpSp>
          <p:nvGrpSpPr>
            <p:cNvPr id="1869" name="Google Shape;1869;p33"/>
            <p:cNvGrpSpPr/>
            <p:nvPr/>
          </p:nvGrpSpPr>
          <p:grpSpPr>
            <a:xfrm>
              <a:off x="2267909" y="3080044"/>
              <a:ext cx="4608193" cy="1733935"/>
              <a:chOff x="5485193" y="340487"/>
              <a:chExt cx="3462464" cy="1302829"/>
            </a:xfrm>
          </p:grpSpPr>
          <p:sp>
            <p:nvSpPr>
              <p:cNvPr id="1870" name="Google Shape;1870;p33"/>
              <p:cNvSpPr/>
              <p:nvPr/>
            </p:nvSpPr>
            <p:spPr>
              <a:xfrm>
                <a:off x="5485193" y="340487"/>
                <a:ext cx="3462464" cy="1296479"/>
              </a:xfrm>
              <a:custGeom>
                <a:rect b="b" l="l" r="r" t="t"/>
                <a:pathLst>
                  <a:path extrusionOk="0" h="1296479" w="3462464">
                    <a:moveTo>
                      <a:pt x="0" y="0"/>
                    </a:moveTo>
                    <a:lnTo>
                      <a:pt x="3462464" y="0"/>
                    </a:lnTo>
                    <a:lnTo>
                      <a:pt x="3462464" y="1296480"/>
                    </a:lnTo>
                    <a:lnTo>
                      <a:pt x="0" y="129648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1" name="Google Shape;1871;p33"/>
              <p:cNvSpPr/>
              <p:nvPr/>
            </p:nvSpPr>
            <p:spPr>
              <a:xfrm>
                <a:off x="784021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2" name="Google Shape;1872;p33"/>
              <p:cNvSpPr/>
              <p:nvPr/>
            </p:nvSpPr>
            <p:spPr>
              <a:xfrm>
                <a:off x="802481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3" name="Google Shape;1873;p33"/>
              <p:cNvSpPr/>
              <p:nvPr/>
            </p:nvSpPr>
            <p:spPr>
              <a:xfrm>
                <a:off x="820934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4" name="Google Shape;1874;p33"/>
              <p:cNvSpPr/>
              <p:nvPr/>
            </p:nvSpPr>
            <p:spPr>
              <a:xfrm>
                <a:off x="839393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5" name="Google Shape;1875;p33"/>
              <p:cNvSpPr/>
              <p:nvPr/>
            </p:nvSpPr>
            <p:spPr>
              <a:xfrm>
                <a:off x="857853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6" name="Google Shape;1876;p33"/>
              <p:cNvSpPr/>
              <p:nvPr/>
            </p:nvSpPr>
            <p:spPr>
              <a:xfrm>
                <a:off x="876306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7" name="Google Shape;1877;p33"/>
              <p:cNvSpPr/>
              <p:nvPr/>
            </p:nvSpPr>
            <p:spPr>
              <a:xfrm>
                <a:off x="675500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8" name="Google Shape;1878;p33"/>
              <p:cNvSpPr/>
              <p:nvPr/>
            </p:nvSpPr>
            <p:spPr>
              <a:xfrm>
                <a:off x="69395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79" name="Google Shape;1879;p33"/>
              <p:cNvSpPr/>
              <p:nvPr/>
            </p:nvSpPr>
            <p:spPr>
              <a:xfrm>
                <a:off x="712412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0" name="Google Shape;1880;p33"/>
              <p:cNvSpPr/>
              <p:nvPr/>
            </p:nvSpPr>
            <p:spPr>
              <a:xfrm>
                <a:off x="7308723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1" name="Google Shape;1881;p33"/>
              <p:cNvSpPr/>
              <p:nvPr/>
            </p:nvSpPr>
            <p:spPr>
              <a:xfrm>
                <a:off x="749331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2" name="Google Shape;1882;p33"/>
              <p:cNvSpPr/>
              <p:nvPr/>
            </p:nvSpPr>
            <p:spPr>
              <a:xfrm>
                <a:off x="7677911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3" name="Google Shape;1883;p33"/>
              <p:cNvSpPr/>
              <p:nvPr/>
            </p:nvSpPr>
            <p:spPr>
              <a:xfrm>
                <a:off x="566978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4" name="Google Shape;1884;p33"/>
              <p:cNvSpPr/>
              <p:nvPr/>
            </p:nvSpPr>
            <p:spPr>
              <a:xfrm>
                <a:off x="585438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5" name="Google Shape;1885;p33"/>
              <p:cNvSpPr/>
              <p:nvPr/>
            </p:nvSpPr>
            <p:spPr>
              <a:xfrm>
                <a:off x="603897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6" name="Google Shape;1886;p33"/>
              <p:cNvSpPr/>
              <p:nvPr/>
            </p:nvSpPr>
            <p:spPr>
              <a:xfrm>
                <a:off x="6223508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7" name="Google Shape;1887;p33"/>
              <p:cNvSpPr/>
              <p:nvPr/>
            </p:nvSpPr>
            <p:spPr>
              <a:xfrm>
                <a:off x="6408102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8" name="Google Shape;1888;p33"/>
              <p:cNvSpPr/>
              <p:nvPr/>
            </p:nvSpPr>
            <p:spPr>
              <a:xfrm>
                <a:off x="6592697" y="340487"/>
                <a:ext cx="6350" cy="1296479"/>
              </a:xfrm>
              <a:custGeom>
                <a:rect b="b" l="l" r="r" t="t"/>
                <a:pathLst>
                  <a:path extrusionOk="0" h="1296479" w="6350">
                    <a:moveTo>
                      <a:pt x="0" y="0"/>
                    </a:moveTo>
                    <a:lnTo>
                      <a:pt x="0" y="129648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89" name="Google Shape;1889;p33"/>
              <p:cNvSpPr/>
              <p:nvPr/>
            </p:nvSpPr>
            <p:spPr>
              <a:xfrm>
                <a:off x="5485193" y="525653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0" name="Google Shape;1890;p33"/>
              <p:cNvSpPr/>
              <p:nvPr/>
            </p:nvSpPr>
            <p:spPr>
              <a:xfrm>
                <a:off x="5485193" y="145173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1" name="Google Shape;1891;p33"/>
              <p:cNvSpPr/>
              <p:nvPr/>
            </p:nvSpPr>
            <p:spPr>
              <a:xfrm>
                <a:off x="5485193" y="1636966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2" name="Google Shape;1892;p33"/>
              <p:cNvSpPr/>
              <p:nvPr/>
            </p:nvSpPr>
            <p:spPr>
              <a:xfrm>
                <a:off x="5485193" y="1266507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3" name="Google Shape;1893;p33"/>
              <p:cNvSpPr/>
              <p:nvPr/>
            </p:nvSpPr>
            <p:spPr>
              <a:xfrm>
                <a:off x="5485193" y="1081278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4" name="Google Shape;1894;p33"/>
              <p:cNvSpPr/>
              <p:nvPr/>
            </p:nvSpPr>
            <p:spPr>
              <a:xfrm>
                <a:off x="5485193" y="89611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  <p:sp>
            <p:nvSpPr>
              <p:cNvPr id="1895" name="Google Shape;1895;p33"/>
              <p:cNvSpPr/>
              <p:nvPr/>
            </p:nvSpPr>
            <p:spPr>
              <a:xfrm>
                <a:off x="5485193" y="710882"/>
                <a:ext cx="3462464" cy="6350"/>
              </a:xfrm>
              <a:custGeom>
                <a:rect b="b" l="l" r="r" t="t"/>
                <a:pathLst>
                  <a:path extrusionOk="0" h="6350" w="3462464">
                    <a:moveTo>
                      <a:pt x="0" y="0"/>
                    </a:moveTo>
                    <a:lnTo>
                      <a:pt x="3462464" y="0"/>
                    </a:ln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/>
              </a:p>
            </p:txBody>
          </p:sp>
        </p:grpSp>
        <p:sp>
          <p:nvSpPr>
            <p:cNvPr id="1896" name="Google Shape;1896;p33"/>
            <p:cNvSpPr/>
            <p:nvPr/>
          </p:nvSpPr>
          <p:spPr>
            <a:xfrm>
              <a:off x="2764500" y="3326025"/>
              <a:ext cx="1195167" cy="737592"/>
            </a:xfrm>
            <a:custGeom>
              <a:rect b="b" l="l" r="r" t="t"/>
              <a:pathLst>
                <a:path extrusionOk="0" h="555625" w="922909">
                  <a:moveTo>
                    <a:pt x="0" y="0"/>
                  </a:moveTo>
                  <a:lnTo>
                    <a:pt x="922909" y="0"/>
                  </a:lnTo>
                  <a:lnTo>
                    <a:pt x="922909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7" name="Google Shape;1897;p33"/>
            <p:cNvSpPr/>
            <p:nvPr/>
          </p:nvSpPr>
          <p:spPr>
            <a:xfrm>
              <a:off x="5406200" y="2831175"/>
              <a:ext cx="974139" cy="985252"/>
            </a:xfrm>
            <a:custGeom>
              <a:rect b="b" l="l" r="r" t="t"/>
              <a:pathLst>
                <a:path extrusionOk="0" h="740791" w="740790">
                  <a:moveTo>
                    <a:pt x="740791" y="370395"/>
                  </a:moveTo>
                  <a:cubicBezTo>
                    <a:pt x="740791" y="574959"/>
                    <a:pt x="574959" y="740791"/>
                    <a:pt x="370396" y="740791"/>
                  </a:cubicBezTo>
                  <a:cubicBezTo>
                    <a:pt x="165832" y="740791"/>
                    <a:pt x="0" y="574959"/>
                    <a:pt x="0" y="370395"/>
                  </a:cubicBezTo>
                  <a:cubicBezTo>
                    <a:pt x="0" y="165832"/>
                    <a:pt x="165832" y="0"/>
                    <a:pt x="370396" y="0"/>
                  </a:cubicBezTo>
                  <a:cubicBezTo>
                    <a:pt x="574959" y="0"/>
                    <a:pt x="740791" y="165832"/>
                    <a:pt x="740791" y="3703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8" name="Google Shape;1898;p33"/>
            <p:cNvSpPr/>
            <p:nvPr/>
          </p:nvSpPr>
          <p:spPr>
            <a:xfrm>
              <a:off x="4203775" y="3816425"/>
              <a:ext cx="736446" cy="738062"/>
            </a:xfrm>
            <a:custGeom>
              <a:rect b="b" l="l" r="r" t="t"/>
              <a:pathLst>
                <a:path extrusionOk="0" h="581151" w="553719">
                  <a:moveTo>
                    <a:pt x="553720" y="581152"/>
                  </a:moveTo>
                  <a:lnTo>
                    <a:pt x="0" y="581152"/>
                  </a:lnTo>
                  <a:lnTo>
                    <a:pt x="0" y="0"/>
                  </a:lnTo>
                  <a:lnTo>
                    <a:pt x="553720" y="5811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34"/>
          <p:cNvSpPr txBox="1"/>
          <p:nvPr>
            <p:ph idx="4" type="body"/>
          </p:nvPr>
        </p:nvSpPr>
        <p:spPr>
          <a:xfrm>
            <a:off x="202050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grpSp>
        <p:nvGrpSpPr>
          <p:cNvPr id="1904" name="Google Shape;1904;p34"/>
          <p:cNvGrpSpPr/>
          <p:nvPr/>
        </p:nvGrpSpPr>
        <p:grpSpPr>
          <a:xfrm>
            <a:off x="7509125" y="1921038"/>
            <a:ext cx="1258500" cy="902350"/>
            <a:chOff x="6575700" y="2242475"/>
            <a:chExt cx="1258500" cy="902350"/>
          </a:xfrm>
        </p:grpSpPr>
        <p:sp>
          <p:nvSpPr>
            <p:cNvPr id="1905" name="Google Shape;1905;p34"/>
            <p:cNvSpPr/>
            <p:nvPr/>
          </p:nvSpPr>
          <p:spPr>
            <a:xfrm>
              <a:off x="65967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4"/>
            <p:cNvSpPr/>
            <p:nvPr/>
          </p:nvSpPr>
          <p:spPr>
            <a:xfrm>
              <a:off x="65757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07" name="Google Shape;1907;p34"/>
            <p:cNvCxnSpPr/>
            <p:nvPr/>
          </p:nvCxnSpPr>
          <p:spPr>
            <a:xfrm>
              <a:off x="65765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sp>
        <p:nvSpPr>
          <p:cNvPr id="1908" name="Google Shape;1908;p34"/>
          <p:cNvSpPr txBox="1"/>
          <p:nvPr/>
        </p:nvSpPr>
        <p:spPr>
          <a:xfrm>
            <a:off x="376375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Introduction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09" name="Google Shape;1909;p34"/>
          <p:cNvSpPr txBox="1"/>
          <p:nvPr/>
        </p:nvSpPr>
        <p:spPr>
          <a:xfrm>
            <a:off x="2753850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Data Cleaning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10" name="Google Shape;1910;p34"/>
          <p:cNvSpPr txBox="1"/>
          <p:nvPr/>
        </p:nvSpPr>
        <p:spPr>
          <a:xfrm>
            <a:off x="5129175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Data Analysis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11" name="Google Shape;1911;p34"/>
          <p:cNvSpPr txBox="1"/>
          <p:nvPr/>
        </p:nvSpPr>
        <p:spPr>
          <a:xfrm>
            <a:off x="7509125" y="2853163"/>
            <a:ext cx="12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Conclusion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912" name="Google Shape;1912;p34"/>
          <p:cNvGrpSpPr/>
          <p:nvPr/>
        </p:nvGrpSpPr>
        <p:grpSpPr>
          <a:xfrm>
            <a:off x="376375" y="1921038"/>
            <a:ext cx="1258500" cy="902350"/>
            <a:chOff x="1209150" y="2242475"/>
            <a:chExt cx="1258500" cy="902350"/>
          </a:xfrm>
        </p:grpSpPr>
        <p:sp>
          <p:nvSpPr>
            <p:cNvPr id="1913" name="Google Shape;1913;p34"/>
            <p:cNvSpPr/>
            <p:nvPr/>
          </p:nvSpPr>
          <p:spPr>
            <a:xfrm>
              <a:off x="12302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4"/>
            <p:cNvSpPr/>
            <p:nvPr/>
          </p:nvSpPr>
          <p:spPr>
            <a:xfrm>
              <a:off x="12091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15" name="Google Shape;1915;p34"/>
            <p:cNvCxnSpPr/>
            <p:nvPr/>
          </p:nvCxnSpPr>
          <p:spPr>
            <a:xfrm>
              <a:off x="12099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1916" name="Google Shape;1916;p34"/>
          <p:cNvGrpSpPr/>
          <p:nvPr/>
        </p:nvGrpSpPr>
        <p:grpSpPr>
          <a:xfrm>
            <a:off x="2753958" y="1921038"/>
            <a:ext cx="1258500" cy="902350"/>
            <a:chOff x="2998000" y="2242475"/>
            <a:chExt cx="1258500" cy="902350"/>
          </a:xfrm>
        </p:grpSpPr>
        <p:sp>
          <p:nvSpPr>
            <p:cNvPr id="1917" name="Google Shape;1917;p34"/>
            <p:cNvSpPr/>
            <p:nvPr/>
          </p:nvSpPr>
          <p:spPr>
            <a:xfrm>
              <a:off x="301905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4"/>
            <p:cNvSpPr/>
            <p:nvPr/>
          </p:nvSpPr>
          <p:spPr>
            <a:xfrm>
              <a:off x="299800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19" name="Google Shape;1919;p34"/>
            <p:cNvCxnSpPr/>
            <p:nvPr/>
          </p:nvCxnSpPr>
          <p:spPr>
            <a:xfrm>
              <a:off x="299884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grpSp>
        <p:nvGrpSpPr>
          <p:cNvPr id="1920" name="Google Shape;1920;p34"/>
          <p:cNvGrpSpPr/>
          <p:nvPr/>
        </p:nvGrpSpPr>
        <p:grpSpPr>
          <a:xfrm>
            <a:off x="5131542" y="1921038"/>
            <a:ext cx="1258500" cy="902350"/>
            <a:chOff x="4786850" y="2242475"/>
            <a:chExt cx="1258500" cy="902350"/>
          </a:xfrm>
        </p:grpSpPr>
        <p:sp>
          <p:nvSpPr>
            <p:cNvPr id="1921" name="Google Shape;1921;p34"/>
            <p:cNvSpPr/>
            <p:nvPr/>
          </p:nvSpPr>
          <p:spPr>
            <a:xfrm>
              <a:off x="4807900" y="2242475"/>
              <a:ext cx="411300" cy="816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4"/>
            <p:cNvSpPr/>
            <p:nvPr/>
          </p:nvSpPr>
          <p:spPr>
            <a:xfrm>
              <a:off x="4786850" y="2318025"/>
              <a:ext cx="1258500" cy="826800"/>
            </a:xfrm>
            <a:prstGeom prst="roundRect">
              <a:avLst>
                <a:gd fmla="val 5261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3" name="Google Shape;1923;p34"/>
            <p:cNvCxnSpPr/>
            <p:nvPr/>
          </p:nvCxnSpPr>
          <p:spPr>
            <a:xfrm>
              <a:off x="4787690" y="3091250"/>
              <a:ext cx="1256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7150" rotWithShape="0" algn="bl" dir="5400000" dist="19050">
                <a:srgbClr val="000000">
                  <a:alpha val="30000"/>
                </a:srgbClr>
              </a:outerShdw>
            </a:effectLst>
          </p:spPr>
        </p:cxnSp>
      </p:grpSp>
      <p:sp>
        <p:nvSpPr>
          <p:cNvPr id="1924" name="Google Shape;1924;p34"/>
          <p:cNvSpPr/>
          <p:nvPr/>
        </p:nvSpPr>
        <p:spPr>
          <a:xfrm>
            <a:off x="376375" y="484200"/>
            <a:ext cx="2325672" cy="601830"/>
          </a:xfrm>
          <a:prstGeom prst="flowChartTerminator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25" name="Google Shape;1925;p34"/>
          <p:cNvSpPr txBox="1"/>
          <p:nvPr/>
        </p:nvSpPr>
        <p:spPr>
          <a:xfrm>
            <a:off x="508000" y="508063"/>
            <a:ext cx="199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35"/>
          <p:cNvSpPr/>
          <p:nvPr/>
        </p:nvSpPr>
        <p:spPr>
          <a:xfrm>
            <a:off x="209775" y="514462"/>
            <a:ext cx="3500442" cy="517212"/>
          </a:xfrm>
          <a:prstGeom prst="flowChartTerminator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31" name="Google Shape;1931;p35"/>
          <p:cNvSpPr txBox="1"/>
          <p:nvPr>
            <p:ph type="title"/>
          </p:nvPr>
        </p:nvSpPr>
        <p:spPr>
          <a:xfrm>
            <a:off x="477250" y="514463"/>
            <a:ext cx="29655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Introduction</a:t>
            </a:r>
            <a:endParaRPr sz="2400"/>
          </a:p>
        </p:txBody>
      </p:sp>
      <p:sp>
        <p:nvSpPr>
          <p:cNvPr id="1932" name="Google Shape;1932;p35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35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sp>
        <p:nvSpPr>
          <p:cNvPr id="1934" name="Google Shape;1934;p35"/>
          <p:cNvSpPr/>
          <p:nvPr/>
        </p:nvSpPr>
        <p:spPr>
          <a:xfrm>
            <a:off x="871125" y="1543150"/>
            <a:ext cx="2695500" cy="33306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0612" rotWithShape="0" algn="bl" dist="16871">
              <a:srgbClr val="000000">
                <a:alpha val="10000"/>
              </a:srgbClr>
            </a:outerShdw>
          </a:effectLst>
        </p:spPr>
        <p:txBody>
          <a:bodyPr anchorCtr="0" anchor="ctr" bIns="80975" lIns="80975" spcFirstLastPara="1" rIns="80975" wrap="square" tIns="8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5" name="Google Shape;1935;p35"/>
          <p:cNvGrpSpPr/>
          <p:nvPr/>
        </p:nvGrpSpPr>
        <p:grpSpPr>
          <a:xfrm>
            <a:off x="977212" y="1660401"/>
            <a:ext cx="246084" cy="60575"/>
            <a:chOff x="411700" y="2420932"/>
            <a:chExt cx="277873" cy="68400"/>
          </a:xfrm>
        </p:grpSpPr>
        <p:sp>
          <p:nvSpPr>
            <p:cNvPr id="1936" name="Google Shape;1936;p35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0975" lIns="80975" spcFirstLastPara="1" rIns="80975" wrap="square" tIns="8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0"/>
            </a:p>
          </p:txBody>
        </p:sp>
        <p:sp>
          <p:nvSpPr>
            <p:cNvPr id="1937" name="Google Shape;1937;p35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80975" lIns="80975" spcFirstLastPara="1" rIns="80975" wrap="square" tIns="8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0"/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80975" lIns="80975" spcFirstLastPara="1" rIns="80975" wrap="square" tIns="8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0"/>
            </a:p>
          </p:txBody>
        </p:sp>
      </p:grpSp>
      <p:sp>
        <p:nvSpPr>
          <p:cNvPr id="1939" name="Google Shape;1939;p35"/>
          <p:cNvSpPr txBox="1"/>
          <p:nvPr/>
        </p:nvSpPr>
        <p:spPr>
          <a:xfrm>
            <a:off x="977198" y="1877568"/>
            <a:ext cx="2529900" cy="1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975" lIns="80975" spcFirstLastPara="1" rIns="80975" wrap="square" tIns="809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3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Research question:</a:t>
            </a:r>
            <a:endParaRPr sz="1583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83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student-related factors best explain salary among students who received job placements?</a:t>
            </a:r>
            <a:endParaRPr sz="1583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35"/>
          <p:cNvSpPr/>
          <p:nvPr/>
        </p:nvSpPr>
        <p:spPr>
          <a:xfrm>
            <a:off x="4474950" y="1543150"/>
            <a:ext cx="4004100" cy="33306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1" name="Google Shape;1941;p35"/>
          <p:cNvGrpSpPr/>
          <p:nvPr/>
        </p:nvGrpSpPr>
        <p:grpSpPr>
          <a:xfrm>
            <a:off x="4724916" y="1660282"/>
            <a:ext cx="277873" cy="68400"/>
            <a:chOff x="411700" y="2420932"/>
            <a:chExt cx="277873" cy="68400"/>
          </a:xfrm>
        </p:grpSpPr>
        <p:sp>
          <p:nvSpPr>
            <p:cNvPr id="1942" name="Google Shape;1942;p35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5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5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5" name="Google Shape;1945;p35"/>
          <p:cNvSpPr txBox="1"/>
          <p:nvPr/>
        </p:nvSpPr>
        <p:spPr>
          <a:xfrm>
            <a:off x="4597795" y="1720847"/>
            <a:ext cx="37584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 Light"/>
              <a:buChar char="❖"/>
            </a:pPr>
            <a: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Source: Kaggle</a:t>
            </a:r>
            <a:b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 Light"/>
              <a:buChar char="❖"/>
            </a:pPr>
            <a: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Original dataset: 10,000 observations, 13 variables</a:t>
            </a:r>
            <a:b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 Light"/>
              <a:buChar char="❖"/>
            </a:pPr>
            <a: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Modeling dataset: 6,153 placed students</a:t>
            </a:r>
            <a:b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 Light"/>
              <a:buChar char="❖"/>
            </a:pPr>
            <a: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Removed </a:t>
            </a:r>
            <a:r>
              <a:rPr lang="en" sz="1300">
                <a:solidFill>
                  <a:schemeClr val="dk1"/>
                </a:solidFill>
                <a:highlight>
                  <a:schemeClr val="dk2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placement_status</a:t>
            </a:r>
            <a: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from modeling data</a:t>
            </a:r>
            <a:b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 Light"/>
              <a:buChar char="❖"/>
            </a:pPr>
            <a:r>
              <a:rPr lang="en"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No missing values / no duplicates in cleaned analysis dataset</a:t>
            </a:r>
            <a:endParaRPr sz="1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946" name="Google Shape;1946;p35"/>
          <p:cNvGrpSpPr/>
          <p:nvPr/>
        </p:nvGrpSpPr>
        <p:grpSpPr>
          <a:xfrm rot="5400000">
            <a:off x="4679050" y="2736432"/>
            <a:ext cx="277821" cy="277905"/>
            <a:chOff x="2863215" y="5306949"/>
            <a:chExt cx="842391" cy="842391"/>
          </a:xfrm>
        </p:grpSpPr>
        <p:sp>
          <p:nvSpPr>
            <p:cNvPr id="1947" name="Google Shape;1947;p35"/>
            <p:cNvSpPr/>
            <p:nvPr/>
          </p:nvSpPr>
          <p:spPr>
            <a:xfrm>
              <a:off x="2863215" y="5306949"/>
              <a:ext cx="842391" cy="842391"/>
            </a:xfrm>
            <a:custGeom>
              <a:rect b="b" l="l" r="r" t="t"/>
              <a:pathLst>
                <a:path extrusionOk="0" h="842391" w="842391">
                  <a:moveTo>
                    <a:pt x="842391" y="421196"/>
                  </a:moveTo>
                  <a:cubicBezTo>
                    <a:pt x="842391" y="653815"/>
                    <a:pt x="653815" y="842391"/>
                    <a:pt x="421195" y="842391"/>
                  </a:cubicBezTo>
                  <a:cubicBezTo>
                    <a:pt x="188575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5" y="0"/>
                  </a:cubicBezTo>
                  <a:cubicBezTo>
                    <a:pt x="653815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20275" lIns="40550" spcFirstLastPara="1" rIns="40550" wrap="square" tIns="2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8"/>
            </a:p>
          </p:txBody>
        </p:sp>
        <p:grpSp>
          <p:nvGrpSpPr>
            <p:cNvPr id="1948" name="Google Shape;1948;p35"/>
            <p:cNvGrpSpPr/>
            <p:nvPr/>
          </p:nvGrpSpPr>
          <p:grpSpPr>
            <a:xfrm>
              <a:off x="3124581" y="5568315"/>
              <a:ext cx="319595" cy="319595"/>
              <a:chOff x="3124581" y="5568315"/>
              <a:chExt cx="319595" cy="319595"/>
            </a:xfrm>
          </p:grpSpPr>
          <p:sp>
            <p:nvSpPr>
              <p:cNvPr id="1949" name="Google Shape;1949;p35"/>
              <p:cNvSpPr/>
              <p:nvPr/>
            </p:nvSpPr>
            <p:spPr>
              <a:xfrm>
                <a:off x="3124581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6" y="0"/>
                    </a:lnTo>
                  </a:path>
                </a:pathLst>
              </a:custGeom>
              <a:solidFill>
                <a:schemeClr val="accent2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  <p:sp>
            <p:nvSpPr>
              <p:cNvPr id="1950" name="Google Shape;1950;p35"/>
              <p:cNvSpPr/>
              <p:nvPr/>
            </p:nvSpPr>
            <p:spPr>
              <a:xfrm>
                <a:off x="3284410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2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</p:grpSp>
      </p:grpSp>
      <p:grpSp>
        <p:nvGrpSpPr>
          <p:cNvPr id="1951" name="Google Shape;1951;p35"/>
          <p:cNvGrpSpPr/>
          <p:nvPr/>
        </p:nvGrpSpPr>
        <p:grpSpPr>
          <a:xfrm rot="5400000">
            <a:off x="4679051" y="1834657"/>
            <a:ext cx="277820" cy="277905"/>
            <a:chOff x="1823849" y="5306949"/>
            <a:chExt cx="842390" cy="842391"/>
          </a:xfrm>
        </p:grpSpPr>
        <p:sp>
          <p:nvSpPr>
            <p:cNvPr id="1952" name="Google Shape;1952;p35"/>
            <p:cNvSpPr/>
            <p:nvPr/>
          </p:nvSpPr>
          <p:spPr>
            <a:xfrm>
              <a:off x="1823849" y="5306949"/>
              <a:ext cx="842390" cy="842391"/>
            </a:xfrm>
            <a:custGeom>
              <a:rect b="b" l="l" r="r" t="t"/>
              <a:pathLst>
                <a:path extrusionOk="0" h="842391" w="842390">
                  <a:moveTo>
                    <a:pt x="842391" y="421196"/>
                  </a:moveTo>
                  <a:cubicBezTo>
                    <a:pt x="842391" y="653815"/>
                    <a:pt x="653815" y="842391"/>
                    <a:pt x="421196" y="842391"/>
                  </a:cubicBezTo>
                  <a:cubicBezTo>
                    <a:pt x="188576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6" y="0"/>
                  </a:cubicBezTo>
                  <a:cubicBezTo>
                    <a:pt x="653816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20275" lIns="40550" spcFirstLastPara="1" rIns="40550" wrap="square" tIns="2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8"/>
            </a:p>
          </p:txBody>
        </p:sp>
        <p:grpSp>
          <p:nvGrpSpPr>
            <p:cNvPr id="1953" name="Google Shape;1953;p35"/>
            <p:cNvGrpSpPr/>
            <p:nvPr/>
          </p:nvGrpSpPr>
          <p:grpSpPr>
            <a:xfrm>
              <a:off x="2085215" y="5568315"/>
              <a:ext cx="319595" cy="319595"/>
              <a:chOff x="2085215" y="5568315"/>
              <a:chExt cx="319595" cy="319595"/>
            </a:xfrm>
          </p:grpSpPr>
          <p:sp>
            <p:nvSpPr>
              <p:cNvPr id="1954" name="Google Shape;1954;p35"/>
              <p:cNvSpPr/>
              <p:nvPr/>
            </p:nvSpPr>
            <p:spPr>
              <a:xfrm>
                <a:off x="2085215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5" y="0"/>
                    </a:lnTo>
                  </a:path>
                </a:pathLst>
              </a:custGeom>
              <a:solidFill>
                <a:schemeClr val="accent5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  <p:sp>
            <p:nvSpPr>
              <p:cNvPr id="1955" name="Google Shape;1955;p35"/>
              <p:cNvSpPr/>
              <p:nvPr/>
            </p:nvSpPr>
            <p:spPr>
              <a:xfrm>
                <a:off x="2245045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5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</p:grpSp>
      </p:grpSp>
      <p:grpSp>
        <p:nvGrpSpPr>
          <p:cNvPr id="1956" name="Google Shape;1956;p35"/>
          <p:cNvGrpSpPr/>
          <p:nvPr/>
        </p:nvGrpSpPr>
        <p:grpSpPr>
          <a:xfrm rot="5400000">
            <a:off x="4679050" y="3323598"/>
            <a:ext cx="277821" cy="277905"/>
            <a:chOff x="4079493" y="5306949"/>
            <a:chExt cx="842391" cy="842391"/>
          </a:xfrm>
        </p:grpSpPr>
        <p:sp>
          <p:nvSpPr>
            <p:cNvPr id="1957" name="Google Shape;1957;p35"/>
            <p:cNvSpPr/>
            <p:nvPr/>
          </p:nvSpPr>
          <p:spPr>
            <a:xfrm>
              <a:off x="4079493" y="5306949"/>
              <a:ext cx="842391" cy="842391"/>
            </a:xfrm>
            <a:custGeom>
              <a:rect b="b" l="l" r="r" t="t"/>
              <a:pathLst>
                <a:path extrusionOk="0" h="842391" w="842391">
                  <a:moveTo>
                    <a:pt x="842391" y="421196"/>
                  </a:moveTo>
                  <a:cubicBezTo>
                    <a:pt x="842391" y="653815"/>
                    <a:pt x="653815" y="842391"/>
                    <a:pt x="421195" y="842391"/>
                  </a:cubicBezTo>
                  <a:cubicBezTo>
                    <a:pt x="188575" y="842391"/>
                    <a:pt x="0" y="653815"/>
                    <a:pt x="0" y="421196"/>
                  </a:cubicBezTo>
                  <a:cubicBezTo>
                    <a:pt x="0" y="188576"/>
                    <a:pt x="188575" y="0"/>
                    <a:pt x="421195" y="0"/>
                  </a:cubicBezTo>
                  <a:cubicBezTo>
                    <a:pt x="653815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20275" lIns="40550" spcFirstLastPara="1" rIns="40550" wrap="square" tIns="2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8"/>
            </a:p>
          </p:txBody>
        </p:sp>
        <p:grpSp>
          <p:nvGrpSpPr>
            <p:cNvPr id="1958" name="Google Shape;1958;p35"/>
            <p:cNvGrpSpPr/>
            <p:nvPr/>
          </p:nvGrpSpPr>
          <p:grpSpPr>
            <a:xfrm>
              <a:off x="4340923" y="5568315"/>
              <a:ext cx="319595" cy="319595"/>
              <a:chOff x="4340923" y="5568315"/>
              <a:chExt cx="319595" cy="319595"/>
            </a:xfrm>
          </p:grpSpPr>
          <p:sp>
            <p:nvSpPr>
              <p:cNvPr id="1959" name="Google Shape;1959;p35"/>
              <p:cNvSpPr/>
              <p:nvPr/>
            </p:nvSpPr>
            <p:spPr>
              <a:xfrm>
                <a:off x="4340923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6" y="0"/>
                    </a:lnTo>
                  </a:path>
                </a:pathLst>
              </a:custGeom>
              <a:solidFill>
                <a:schemeClr val="accent4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  <p:sp>
            <p:nvSpPr>
              <p:cNvPr id="1960" name="Google Shape;1960;p35"/>
              <p:cNvSpPr/>
              <p:nvPr/>
            </p:nvSpPr>
            <p:spPr>
              <a:xfrm>
                <a:off x="4500689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</p:grpSp>
      </p:grpSp>
      <p:grpSp>
        <p:nvGrpSpPr>
          <p:cNvPr id="1961" name="Google Shape;1961;p35"/>
          <p:cNvGrpSpPr/>
          <p:nvPr/>
        </p:nvGrpSpPr>
        <p:grpSpPr>
          <a:xfrm rot="5400000">
            <a:off x="4679051" y="2218509"/>
            <a:ext cx="277820" cy="277905"/>
            <a:chOff x="1823849" y="5306949"/>
            <a:chExt cx="842390" cy="842391"/>
          </a:xfrm>
        </p:grpSpPr>
        <p:sp>
          <p:nvSpPr>
            <p:cNvPr id="1962" name="Google Shape;1962;p35"/>
            <p:cNvSpPr/>
            <p:nvPr/>
          </p:nvSpPr>
          <p:spPr>
            <a:xfrm>
              <a:off x="1823849" y="5306949"/>
              <a:ext cx="842390" cy="842391"/>
            </a:xfrm>
            <a:custGeom>
              <a:rect b="b" l="l" r="r" t="t"/>
              <a:pathLst>
                <a:path extrusionOk="0" h="842391" w="842390">
                  <a:moveTo>
                    <a:pt x="842391" y="421196"/>
                  </a:moveTo>
                  <a:cubicBezTo>
                    <a:pt x="842391" y="653815"/>
                    <a:pt x="653815" y="842391"/>
                    <a:pt x="421196" y="842391"/>
                  </a:cubicBezTo>
                  <a:cubicBezTo>
                    <a:pt x="188576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6" y="0"/>
                  </a:cubicBezTo>
                  <a:cubicBezTo>
                    <a:pt x="653816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0275" lIns="40550" spcFirstLastPara="1" rIns="40550" wrap="square" tIns="2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8"/>
            </a:p>
          </p:txBody>
        </p:sp>
        <p:grpSp>
          <p:nvGrpSpPr>
            <p:cNvPr id="1963" name="Google Shape;1963;p35"/>
            <p:cNvGrpSpPr/>
            <p:nvPr/>
          </p:nvGrpSpPr>
          <p:grpSpPr>
            <a:xfrm>
              <a:off x="2085215" y="5568315"/>
              <a:ext cx="319595" cy="319595"/>
              <a:chOff x="2085215" y="5568315"/>
              <a:chExt cx="319595" cy="319595"/>
            </a:xfrm>
          </p:grpSpPr>
          <p:sp>
            <p:nvSpPr>
              <p:cNvPr id="1964" name="Google Shape;1964;p35"/>
              <p:cNvSpPr/>
              <p:nvPr/>
            </p:nvSpPr>
            <p:spPr>
              <a:xfrm>
                <a:off x="2085215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5" y="0"/>
                    </a:lnTo>
                  </a:path>
                </a:pathLst>
              </a:custGeom>
              <a:solidFill>
                <a:schemeClr val="accent5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  <p:sp>
            <p:nvSpPr>
              <p:cNvPr id="1965" name="Google Shape;1965;p35"/>
              <p:cNvSpPr/>
              <p:nvPr/>
            </p:nvSpPr>
            <p:spPr>
              <a:xfrm>
                <a:off x="2245045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5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</p:grpSp>
      </p:grpSp>
      <p:grpSp>
        <p:nvGrpSpPr>
          <p:cNvPr id="1966" name="Google Shape;1966;p35"/>
          <p:cNvGrpSpPr/>
          <p:nvPr/>
        </p:nvGrpSpPr>
        <p:grpSpPr>
          <a:xfrm rot="5400000">
            <a:off x="4679051" y="3964907"/>
            <a:ext cx="277820" cy="277905"/>
            <a:chOff x="1823849" y="5306949"/>
            <a:chExt cx="842390" cy="842391"/>
          </a:xfrm>
        </p:grpSpPr>
        <p:sp>
          <p:nvSpPr>
            <p:cNvPr id="1967" name="Google Shape;1967;p35"/>
            <p:cNvSpPr/>
            <p:nvPr/>
          </p:nvSpPr>
          <p:spPr>
            <a:xfrm>
              <a:off x="1823849" y="5306949"/>
              <a:ext cx="842390" cy="842391"/>
            </a:xfrm>
            <a:custGeom>
              <a:rect b="b" l="l" r="r" t="t"/>
              <a:pathLst>
                <a:path extrusionOk="0" h="842391" w="842390">
                  <a:moveTo>
                    <a:pt x="842391" y="421196"/>
                  </a:moveTo>
                  <a:cubicBezTo>
                    <a:pt x="842391" y="653815"/>
                    <a:pt x="653815" y="842391"/>
                    <a:pt x="421196" y="842391"/>
                  </a:cubicBezTo>
                  <a:cubicBezTo>
                    <a:pt x="188576" y="842391"/>
                    <a:pt x="0" y="653815"/>
                    <a:pt x="0" y="421196"/>
                  </a:cubicBezTo>
                  <a:cubicBezTo>
                    <a:pt x="0" y="188576"/>
                    <a:pt x="188576" y="0"/>
                    <a:pt x="421196" y="0"/>
                  </a:cubicBezTo>
                  <a:cubicBezTo>
                    <a:pt x="653816" y="0"/>
                    <a:pt x="842391" y="188576"/>
                    <a:pt x="842391" y="4211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20275" lIns="40550" spcFirstLastPara="1" rIns="40550" wrap="square" tIns="20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8"/>
            </a:p>
          </p:txBody>
        </p:sp>
        <p:grpSp>
          <p:nvGrpSpPr>
            <p:cNvPr id="1968" name="Google Shape;1968;p35"/>
            <p:cNvGrpSpPr/>
            <p:nvPr/>
          </p:nvGrpSpPr>
          <p:grpSpPr>
            <a:xfrm>
              <a:off x="2085215" y="5568315"/>
              <a:ext cx="319595" cy="319595"/>
              <a:chOff x="2085215" y="5568315"/>
              <a:chExt cx="319595" cy="319595"/>
            </a:xfrm>
          </p:grpSpPr>
          <p:sp>
            <p:nvSpPr>
              <p:cNvPr id="1969" name="Google Shape;1969;p35"/>
              <p:cNvSpPr/>
              <p:nvPr/>
            </p:nvSpPr>
            <p:spPr>
              <a:xfrm>
                <a:off x="2085215" y="5728144"/>
                <a:ext cx="319595" cy="6350"/>
              </a:xfrm>
              <a:custGeom>
                <a:rect b="b" l="l" r="r" t="t"/>
                <a:pathLst>
                  <a:path extrusionOk="0" h="6350" w="319595">
                    <a:moveTo>
                      <a:pt x="0" y="0"/>
                    </a:moveTo>
                    <a:lnTo>
                      <a:pt x="319595" y="0"/>
                    </a:lnTo>
                  </a:path>
                </a:pathLst>
              </a:custGeom>
              <a:solidFill>
                <a:schemeClr val="accent5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  <p:sp>
            <p:nvSpPr>
              <p:cNvPr id="1970" name="Google Shape;1970;p35"/>
              <p:cNvSpPr/>
              <p:nvPr/>
            </p:nvSpPr>
            <p:spPr>
              <a:xfrm>
                <a:off x="2245045" y="5568315"/>
                <a:ext cx="6350" cy="319595"/>
              </a:xfrm>
              <a:custGeom>
                <a:rect b="b" l="l" r="r" t="t"/>
                <a:pathLst>
                  <a:path extrusionOk="0" h="319595" w="6350">
                    <a:moveTo>
                      <a:pt x="0" y="319595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5"/>
              </a:solidFill>
              <a:ln cap="flat" cmpd="sng" w="5650">
                <a:solidFill>
                  <a:schemeClr val="l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20275" lIns="40550" spcFirstLastPara="1" rIns="40550" wrap="square" tIns="20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98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36"/>
          <p:cNvSpPr/>
          <p:nvPr/>
        </p:nvSpPr>
        <p:spPr>
          <a:xfrm>
            <a:off x="250325" y="2051550"/>
            <a:ext cx="8535900" cy="2786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76" name="Google Shape;1976;p36"/>
          <p:cNvSpPr/>
          <p:nvPr/>
        </p:nvSpPr>
        <p:spPr>
          <a:xfrm>
            <a:off x="209775" y="514450"/>
            <a:ext cx="3758994" cy="517212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77" name="Google Shape;1977;p36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36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sp>
        <p:nvSpPr>
          <p:cNvPr id="1979" name="Google Shape;1979;p36"/>
          <p:cNvSpPr txBox="1"/>
          <p:nvPr>
            <p:ph type="title"/>
          </p:nvPr>
        </p:nvSpPr>
        <p:spPr>
          <a:xfrm>
            <a:off x="209775" y="556013"/>
            <a:ext cx="38103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Dataset and Cleaning Approach</a:t>
            </a:r>
            <a:endParaRPr sz="1800"/>
          </a:p>
        </p:txBody>
      </p:sp>
      <p:sp>
        <p:nvSpPr>
          <p:cNvPr id="1980" name="Google Shape;1980;p36"/>
          <p:cNvSpPr/>
          <p:nvPr/>
        </p:nvSpPr>
        <p:spPr>
          <a:xfrm>
            <a:off x="221100" y="1277900"/>
            <a:ext cx="8701800" cy="624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981" name="Google Shape;1981;p36"/>
          <p:cNvSpPr txBox="1"/>
          <p:nvPr/>
        </p:nvSpPr>
        <p:spPr>
          <a:xfrm>
            <a:off x="-48900" y="1372850"/>
            <a:ext cx="9241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Original Data → Placed Students Only → Remove placement_status → Final Regression Dataset</a:t>
            </a:r>
            <a:endParaRPr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grpSp>
        <p:nvGrpSpPr>
          <p:cNvPr id="1982" name="Google Shape;1982;p36"/>
          <p:cNvGrpSpPr/>
          <p:nvPr/>
        </p:nvGrpSpPr>
        <p:grpSpPr>
          <a:xfrm>
            <a:off x="327432" y="1341313"/>
            <a:ext cx="246084" cy="60575"/>
            <a:chOff x="411700" y="2420932"/>
            <a:chExt cx="277873" cy="68400"/>
          </a:xfrm>
        </p:grpSpPr>
        <p:sp>
          <p:nvSpPr>
            <p:cNvPr id="1983" name="Google Shape;1983;p36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0975" lIns="80975" spcFirstLastPara="1" rIns="80975" wrap="square" tIns="8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0"/>
            </a:p>
          </p:txBody>
        </p:sp>
        <p:sp>
          <p:nvSpPr>
            <p:cNvPr id="1984" name="Google Shape;1984;p36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80975" lIns="80975" spcFirstLastPara="1" rIns="80975" wrap="square" tIns="8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0"/>
            </a:p>
          </p:txBody>
        </p:sp>
        <p:sp>
          <p:nvSpPr>
            <p:cNvPr id="1985" name="Google Shape;1985;p36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80975" lIns="80975" spcFirstLastPara="1" rIns="80975" wrap="square" tIns="80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0"/>
            </a:p>
          </p:txBody>
        </p:sp>
      </p:grpSp>
      <p:sp>
        <p:nvSpPr>
          <p:cNvPr id="1986" name="Google Shape;1986;p36"/>
          <p:cNvSpPr txBox="1"/>
          <p:nvPr/>
        </p:nvSpPr>
        <p:spPr>
          <a:xfrm>
            <a:off x="430025" y="2051550"/>
            <a:ext cx="81765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Original dataset: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10,000 observations, 13 variables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 Filtered to placement_status = "Placed"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 Removed placement_status after filtering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 Checked for missing values and duplicates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 Converted categorical predictors into factors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 Final modeling dataset: 6,153 placed students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this matters: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Unplaced students had salary = 0, so including them would mix placement prediction with salary prediction.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37"/>
          <p:cNvSpPr/>
          <p:nvPr/>
        </p:nvSpPr>
        <p:spPr>
          <a:xfrm>
            <a:off x="4977500" y="3290975"/>
            <a:ext cx="3945900" cy="1732800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92" name="Google Shape;1992;p37"/>
          <p:cNvSpPr/>
          <p:nvPr/>
        </p:nvSpPr>
        <p:spPr>
          <a:xfrm>
            <a:off x="114300" y="3271925"/>
            <a:ext cx="4676400" cy="1749000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93" name="Google Shape;1993;p37"/>
          <p:cNvSpPr/>
          <p:nvPr/>
        </p:nvSpPr>
        <p:spPr>
          <a:xfrm>
            <a:off x="209775" y="514450"/>
            <a:ext cx="5148036" cy="517212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94" name="Google Shape;1994;p37"/>
          <p:cNvSpPr txBox="1"/>
          <p:nvPr>
            <p:ph type="title"/>
          </p:nvPr>
        </p:nvSpPr>
        <p:spPr>
          <a:xfrm>
            <a:off x="181888" y="514450"/>
            <a:ext cx="52038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Response and Predict</a:t>
            </a:r>
            <a:r>
              <a:rPr lang="en" sz="2400"/>
              <a:t>o</a:t>
            </a:r>
            <a:r>
              <a:rPr lang="en" sz="2400"/>
              <a:t>r Variables</a:t>
            </a:r>
            <a:endParaRPr sz="2400"/>
          </a:p>
        </p:txBody>
      </p:sp>
      <p:sp>
        <p:nvSpPr>
          <p:cNvPr id="1995" name="Google Shape;1995;p37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37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sp>
        <p:nvSpPr>
          <p:cNvPr id="1997" name="Google Shape;1997;p37"/>
          <p:cNvSpPr/>
          <p:nvPr/>
        </p:nvSpPr>
        <p:spPr>
          <a:xfrm>
            <a:off x="7347000" y="335525"/>
            <a:ext cx="1682700" cy="771900"/>
          </a:xfrm>
          <a:prstGeom prst="flowChartAlternateProcess">
            <a:avLst/>
          </a:prstGeom>
          <a:solidFill>
            <a:schemeClr val="lt2"/>
          </a:solidFill>
          <a:ln cap="flat" cmpd="sng" w="7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5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98" name="Google Shape;1998;p37"/>
          <p:cNvSpPr/>
          <p:nvPr/>
        </p:nvSpPr>
        <p:spPr>
          <a:xfrm>
            <a:off x="1219200" y="1277900"/>
            <a:ext cx="2232300" cy="1842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99" name="Google Shape;1999;p37"/>
          <p:cNvSpPr/>
          <p:nvPr/>
        </p:nvSpPr>
        <p:spPr>
          <a:xfrm>
            <a:off x="5834275" y="1277900"/>
            <a:ext cx="2232300" cy="1842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00" name="Google Shape;2000;p37"/>
          <p:cNvSpPr txBox="1"/>
          <p:nvPr/>
        </p:nvSpPr>
        <p:spPr>
          <a:xfrm>
            <a:off x="7496604" y="485110"/>
            <a:ext cx="138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25" lIns="68925" spcFirstLastPara="1" rIns="68925" wrap="square" tIns="68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Response Variable</a:t>
            </a:r>
            <a:endParaRPr sz="1055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01" name="Google Shape;2001;p37"/>
          <p:cNvSpPr txBox="1"/>
          <p:nvPr/>
        </p:nvSpPr>
        <p:spPr>
          <a:xfrm>
            <a:off x="1386213" y="1476325"/>
            <a:ext cx="19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Numeric Predictors</a:t>
            </a:r>
            <a:endParaRPr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02" name="Google Shape;2002;p37"/>
          <p:cNvSpPr txBox="1"/>
          <p:nvPr/>
        </p:nvSpPr>
        <p:spPr>
          <a:xfrm>
            <a:off x="5834288" y="1383925"/>
            <a:ext cx="223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Categorical Predictors</a:t>
            </a:r>
            <a:endParaRPr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(factored)</a:t>
            </a:r>
            <a:endParaRPr sz="12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03" name="Google Shape;2003;p37"/>
          <p:cNvSpPr txBox="1"/>
          <p:nvPr/>
        </p:nvSpPr>
        <p:spPr>
          <a:xfrm>
            <a:off x="1401888" y="1861225"/>
            <a:ext cx="18669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cgpa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b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backlogs</a:t>
            </a:r>
            <a:b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internship_count</a:t>
            </a:r>
            <a:b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aptitude_score</a:t>
            </a:r>
            <a:b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ommunication_score</a:t>
            </a:r>
            <a:b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internship_quality_score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04" name="Google Shape;2004;p37"/>
          <p:cNvSpPr txBox="1"/>
          <p:nvPr/>
        </p:nvSpPr>
        <p:spPr>
          <a:xfrm>
            <a:off x="5855125" y="1956150"/>
            <a:ext cx="21906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College_tier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Country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University_ranking_band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Specialization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industry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37"/>
          <p:cNvSpPr txBox="1"/>
          <p:nvPr/>
        </p:nvSpPr>
        <p:spPr>
          <a:xfrm>
            <a:off x="7545115" y="775271"/>
            <a:ext cx="1286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925" lIns="68925" spcFirstLastPara="1" rIns="68925" wrap="square" tIns="68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4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salary</a:t>
            </a:r>
            <a:endParaRPr sz="954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6" name="Google Shape;2006;p37"/>
          <p:cNvPicPr preferRelativeResize="0"/>
          <p:nvPr/>
        </p:nvPicPr>
        <p:blipFill rotWithShape="1">
          <a:blip r:embed="rId3">
            <a:alphaModFix/>
          </a:blip>
          <a:srcRect b="0" l="0" r="862" t="1865"/>
          <a:stretch/>
        </p:blipFill>
        <p:spPr>
          <a:xfrm>
            <a:off x="5112875" y="3373025"/>
            <a:ext cx="3694850" cy="158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7" name="Google Shape;2007;p37"/>
          <p:cNvPicPr preferRelativeResize="0"/>
          <p:nvPr/>
        </p:nvPicPr>
        <p:blipFill rotWithShape="1">
          <a:blip r:embed="rId4">
            <a:alphaModFix/>
          </a:blip>
          <a:srcRect b="2534" l="0" r="0" t="0"/>
          <a:stretch/>
        </p:blipFill>
        <p:spPr>
          <a:xfrm>
            <a:off x="311700" y="3353975"/>
            <a:ext cx="4335824" cy="158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38"/>
          <p:cNvSpPr/>
          <p:nvPr/>
        </p:nvSpPr>
        <p:spPr>
          <a:xfrm>
            <a:off x="207500" y="1793250"/>
            <a:ext cx="2672400" cy="47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13" name="Google Shape;2013;p38"/>
          <p:cNvSpPr/>
          <p:nvPr/>
        </p:nvSpPr>
        <p:spPr>
          <a:xfrm>
            <a:off x="6326863" y="1793250"/>
            <a:ext cx="2672400" cy="47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14" name="Google Shape;2014;p38"/>
          <p:cNvSpPr/>
          <p:nvPr/>
        </p:nvSpPr>
        <p:spPr>
          <a:xfrm>
            <a:off x="3281275" y="1793250"/>
            <a:ext cx="2672400" cy="47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15" name="Google Shape;2015;p38"/>
          <p:cNvSpPr txBox="1"/>
          <p:nvPr>
            <p:ph idx="1" type="body"/>
          </p:nvPr>
        </p:nvSpPr>
        <p:spPr>
          <a:xfrm>
            <a:off x="3369163" y="24963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38"/>
          <p:cNvSpPr txBox="1"/>
          <p:nvPr>
            <p:ph idx="3" type="body"/>
          </p:nvPr>
        </p:nvSpPr>
        <p:spPr>
          <a:xfrm>
            <a:off x="6491898" y="251900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38"/>
          <p:cNvSpPr txBox="1"/>
          <p:nvPr>
            <p:ph idx="2" type="subTitle"/>
          </p:nvPr>
        </p:nvSpPr>
        <p:spPr>
          <a:xfrm>
            <a:off x="3351938" y="1770600"/>
            <a:ext cx="2531100" cy="52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Salary by Country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38"/>
          <p:cNvSpPr txBox="1"/>
          <p:nvPr>
            <p:ph idx="4" type="subTitle"/>
          </p:nvPr>
        </p:nvSpPr>
        <p:spPr>
          <a:xfrm>
            <a:off x="6397511" y="1770600"/>
            <a:ext cx="2531100" cy="5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Salary by College Tier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38"/>
          <p:cNvSpPr txBox="1"/>
          <p:nvPr>
            <p:ph idx="6" type="subTitle"/>
          </p:nvPr>
        </p:nvSpPr>
        <p:spPr>
          <a:xfrm>
            <a:off x="29300" y="1770600"/>
            <a:ext cx="3028800" cy="5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Distribution of Salary for Placed students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38"/>
          <p:cNvSpPr/>
          <p:nvPr/>
        </p:nvSpPr>
        <p:spPr>
          <a:xfrm>
            <a:off x="5993938" y="344175"/>
            <a:ext cx="2871600" cy="13077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0612" rotWithShape="0" algn="bl" dist="16871">
              <a:srgbClr val="000000">
                <a:alpha val="10000"/>
              </a:srgbClr>
            </a:outerShdw>
          </a:effectLst>
        </p:spPr>
        <p:txBody>
          <a:bodyPr anchorCtr="0" anchor="ctr" bIns="80975" lIns="80975" spcFirstLastPara="1" rIns="80975" wrap="square" tIns="809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 Observations: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Salary is capped at 120,000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Salary varies significantly by country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Salary varies by college tier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Weak linear relationship with most numeric predictors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38"/>
          <p:cNvSpPr/>
          <p:nvPr/>
        </p:nvSpPr>
        <p:spPr>
          <a:xfrm>
            <a:off x="209775" y="514450"/>
            <a:ext cx="4080024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22" name="Google Shape;2022;p38"/>
          <p:cNvSpPr txBox="1"/>
          <p:nvPr>
            <p:ph idx="4294967295" type="title"/>
          </p:nvPr>
        </p:nvSpPr>
        <p:spPr>
          <a:xfrm>
            <a:off x="209775" y="514438"/>
            <a:ext cx="408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Exploratory Data Analysis</a:t>
            </a:r>
            <a:endParaRPr sz="2400"/>
          </a:p>
        </p:txBody>
      </p:sp>
      <p:pic>
        <p:nvPicPr>
          <p:cNvPr id="2023" name="Google Shape;2023;p38" title="salary_by_count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8112" y="2313600"/>
            <a:ext cx="2972400" cy="212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024" name="Google Shape;2024;p38" title="salary_by_college_ti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250" y="2313600"/>
            <a:ext cx="2972400" cy="212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025" name="Google Shape;2025;p38" title="salary_ceiling_check.png"/>
          <p:cNvPicPr preferRelativeResize="0"/>
          <p:nvPr/>
        </p:nvPicPr>
        <p:blipFill rotWithShape="1">
          <a:blip r:embed="rId5">
            <a:alphaModFix/>
          </a:blip>
          <a:srcRect b="0" l="0" r="0" t="5536"/>
          <a:stretch/>
        </p:blipFill>
        <p:spPr>
          <a:xfrm>
            <a:off x="29300" y="2313600"/>
            <a:ext cx="2939100" cy="212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026" name="Google Shape;2026;p38"/>
          <p:cNvSpPr txBox="1"/>
          <p:nvPr/>
        </p:nvSpPr>
        <p:spPr>
          <a:xfrm>
            <a:off x="209775" y="-396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Student Placement Salary Analysis</a:t>
            </a:r>
            <a:endParaRPr sz="8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39"/>
          <p:cNvSpPr/>
          <p:nvPr/>
        </p:nvSpPr>
        <p:spPr>
          <a:xfrm>
            <a:off x="3311063" y="1835300"/>
            <a:ext cx="2672400" cy="47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32" name="Google Shape;2032;p39"/>
          <p:cNvSpPr/>
          <p:nvPr/>
        </p:nvSpPr>
        <p:spPr>
          <a:xfrm>
            <a:off x="188350" y="1838550"/>
            <a:ext cx="2672400" cy="47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33" name="Google Shape;2033;p39"/>
          <p:cNvSpPr/>
          <p:nvPr/>
        </p:nvSpPr>
        <p:spPr>
          <a:xfrm>
            <a:off x="6276050" y="1815900"/>
            <a:ext cx="2672400" cy="47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34" name="Google Shape;2034;p39"/>
          <p:cNvSpPr txBox="1"/>
          <p:nvPr>
            <p:ph idx="1" type="body"/>
          </p:nvPr>
        </p:nvSpPr>
        <p:spPr>
          <a:xfrm>
            <a:off x="6346713" y="24963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39"/>
          <p:cNvSpPr txBox="1"/>
          <p:nvPr>
            <p:ph idx="3" type="body"/>
          </p:nvPr>
        </p:nvSpPr>
        <p:spPr>
          <a:xfrm>
            <a:off x="258998" y="251900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39"/>
          <p:cNvSpPr txBox="1"/>
          <p:nvPr>
            <p:ph idx="2" type="subTitle"/>
          </p:nvPr>
        </p:nvSpPr>
        <p:spPr>
          <a:xfrm>
            <a:off x="6346713" y="1793250"/>
            <a:ext cx="2531100" cy="52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Salary vs Internship Count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7" name="Google Shape;2037;p39"/>
          <p:cNvSpPr txBox="1"/>
          <p:nvPr>
            <p:ph idx="4" type="subTitle"/>
          </p:nvPr>
        </p:nvSpPr>
        <p:spPr>
          <a:xfrm>
            <a:off x="258998" y="1815900"/>
            <a:ext cx="2531100" cy="5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CGPA vs Salary by Country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8" name="Google Shape;2038;p39"/>
          <p:cNvSpPr txBox="1"/>
          <p:nvPr>
            <p:ph idx="5" type="body"/>
          </p:nvPr>
        </p:nvSpPr>
        <p:spPr>
          <a:xfrm>
            <a:off x="3381721" y="24963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39"/>
          <p:cNvSpPr txBox="1"/>
          <p:nvPr>
            <p:ph idx="6" type="subTitle"/>
          </p:nvPr>
        </p:nvSpPr>
        <p:spPr>
          <a:xfrm>
            <a:off x="3132863" y="1812650"/>
            <a:ext cx="3028800" cy="5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Salary by Specialization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0" name="Google Shape;2040;p39" title="cgpa_vs_salary_by_country.png"/>
          <p:cNvPicPr preferRelativeResize="0"/>
          <p:nvPr/>
        </p:nvPicPr>
        <p:blipFill rotWithShape="1">
          <a:blip r:embed="rId3">
            <a:alphaModFix/>
          </a:blip>
          <a:srcRect b="0" l="0" r="0" t="9886"/>
          <a:stretch/>
        </p:blipFill>
        <p:spPr>
          <a:xfrm>
            <a:off x="38388" y="2340750"/>
            <a:ext cx="2972400" cy="212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041" name="Google Shape;2041;p39"/>
          <p:cNvSpPr/>
          <p:nvPr/>
        </p:nvSpPr>
        <p:spPr>
          <a:xfrm>
            <a:off x="5993938" y="344175"/>
            <a:ext cx="2871600" cy="13077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0612" rotWithShape="0" algn="bl" dist="16871">
              <a:srgbClr val="000000">
                <a:alpha val="10000"/>
              </a:srgbClr>
            </a:outerShdw>
          </a:effectLst>
        </p:spPr>
        <p:txBody>
          <a:bodyPr anchorCtr="0" anchor="ctr" bIns="80975" lIns="80975" spcFirstLastPara="1" rIns="80975" wrap="square" tIns="809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 Observations: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Salary is capped at 120,000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Salary varies significantly by country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Salary varies by college tier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Weak linear relationship with most numeric predictors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39"/>
          <p:cNvSpPr/>
          <p:nvPr/>
        </p:nvSpPr>
        <p:spPr>
          <a:xfrm>
            <a:off x="209775" y="514450"/>
            <a:ext cx="4080024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43" name="Google Shape;2043;p39"/>
          <p:cNvSpPr txBox="1"/>
          <p:nvPr>
            <p:ph idx="4294967295" type="title"/>
          </p:nvPr>
        </p:nvSpPr>
        <p:spPr>
          <a:xfrm>
            <a:off x="209775" y="514438"/>
            <a:ext cx="40800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Exploratory Data Analysis</a:t>
            </a:r>
            <a:endParaRPr sz="2400"/>
          </a:p>
        </p:txBody>
      </p:sp>
      <p:pic>
        <p:nvPicPr>
          <p:cNvPr id="2044" name="Google Shape;2044;p39" title="salary_by_specialization.png"/>
          <p:cNvPicPr preferRelativeResize="0"/>
          <p:nvPr/>
        </p:nvPicPr>
        <p:blipFill rotWithShape="1">
          <a:blip r:embed="rId4">
            <a:alphaModFix/>
          </a:blip>
          <a:srcRect b="0" l="0" r="2931" t="0"/>
          <a:stretch/>
        </p:blipFill>
        <p:spPr>
          <a:xfrm>
            <a:off x="3069513" y="2340750"/>
            <a:ext cx="3090900" cy="212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045" name="Google Shape;2045;p39"/>
          <p:cNvSpPr txBox="1"/>
          <p:nvPr/>
        </p:nvSpPr>
        <p:spPr>
          <a:xfrm>
            <a:off x="209775" y="-396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Student Placement Salary Analysis</a:t>
            </a:r>
            <a:endParaRPr sz="8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046" name="Google Shape;2046;p39" title="salary_vs_internship_cou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9150" y="2368213"/>
            <a:ext cx="2786100" cy="206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40"/>
          <p:cNvSpPr txBox="1"/>
          <p:nvPr/>
        </p:nvSpPr>
        <p:spPr>
          <a:xfrm>
            <a:off x="209775" y="-396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Student Placement Salary Analysis</a:t>
            </a:r>
            <a:endParaRPr sz="8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52" name="Google Shape;2052;p40"/>
          <p:cNvSpPr/>
          <p:nvPr/>
        </p:nvSpPr>
        <p:spPr>
          <a:xfrm>
            <a:off x="209775" y="514450"/>
            <a:ext cx="2938464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53" name="Google Shape;2053;p40"/>
          <p:cNvSpPr txBox="1"/>
          <p:nvPr>
            <p:ph idx="4294967295" type="title"/>
          </p:nvPr>
        </p:nvSpPr>
        <p:spPr>
          <a:xfrm>
            <a:off x="114300" y="514450"/>
            <a:ext cx="31644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Variable Selection</a:t>
            </a:r>
            <a:endParaRPr sz="2400"/>
          </a:p>
        </p:txBody>
      </p:sp>
      <p:grpSp>
        <p:nvGrpSpPr>
          <p:cNvPr id="2054" name="Google Shape;2054;p40"/>
          <p:cNvGrpSpPr/>
          <p:nvPr/>
        </p:nvGrpSpPr>
        <p:grpSpPr>
          <a:xfrm>
            <a:off x="1748297" y="1586544"/>
            <a:ext cx="3118856" cy="3427855"/>
            <a:chOff x="619375" y="1059750"/>
            <a:chExt cx="3500400" cy="3847200"/>
          </a:xfrm>
        </p:grpSpPr>
        <p:sp>
          <p:nvSpPr>
            <p:cNvPr id="2055" name="Google Shape;2055;p40"/>
            <p:cNvSpPr/>
            <p:nvPr/>
          </p:nvSpPr>
          <p:spPr>
            <a:xfrm>
              <a:off x="619375" y="1059750"/>
              <a:ext cx="3500400" cy="3847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5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475" lIns="81475" spcFirstLastPara="1" rIns="81475" wrap="square" tIns="81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7"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pic>
          <p:nvPicPr>
            <p:cNvPr id="2056" name="Google Shape;20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5200" y="1143000"/>
              <a:ext cx="2936676" cy="36806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7" name="Google Shape;2057;p40"/>
          <p:cNvGrpSpPr/>
          <p:nvPr/>
        </p:nvGrpSpPr>
        <p:grpSpPr>
          <a:xfrm>
            <a:off x="5333504" y="1586562"/>
            <a:ext cx="1927231" cy="1549938"/>
            <a:chOff x="5121975" y="1182000"/>
            <a:chExt cx="1503300" cy="1209000"/>
          </a:xfrm>
        </p:grpSpPr>
        <p:sp>
          <p:nvSpPr>
            <p:cNvPr id="2058" name="Google Shape;2058;p40"/>
            <p:cNvSpPr/>
            <p:nvPr/>
          </p:nvSpPr>
          <p:spPr>
            <a:xfrm>
              <a:off x="5121975" y="1182000"/>
              <a:ext cx="1503300" cy="12090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7200" lIns="117200" spcFirstLastPara="1" rIns="117200" wrap="square" tIns="117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5"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pic>
          <p:nvPicPr>
            <p:cNvPr id="2059" name="Google Shape;20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01125" y="1238325"/>
              <a:ext cx="1329550" cy="1096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0" name="Google Shape;2060;p40"/>
          <p:cNvSpPr/>
          <p:nvPr/>
        </p:nvSpPr>
        <p:spPr>
          <a:xfrm>
            <a:off x="5198500" y="3363575"/>
            <a:ext cx="2197200" cy="120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All VIF scores were below 5, indicating no severe multicollinearity. We can proceed without removing any predictors for this reason.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40"/>
          <p:cNvSpPr/>
          <p:nvPr/>
        </p:nvSpPr>
        <p:spPr>
          <a:xfrm>
            <a:off x="2540625" y="1277900"/>
            <a:ext cx="1534200" cy="2391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Full Model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40"/>
          <p:cNvSpPr/>
          <p:nvPr/>
        </p:nvSpPr>
        <p:spPr>
          <a:xfrm>
            <a:off x="5734313" y="1277900"/>
            <a:ext cx="1125600" cy="2391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VIF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41"/>
          <p:cNvSpPr/>
          <p:nvPr/>
        </p:nvSpPr>
        <p:spPr>
          <a:xfrm>
            <a:off x="56825" y="2583450"/>
            <a:ext cx="4435800" cy="1974000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25" lIns="86525" spcFirstLastPara="1" rIns="86525" wrap="square" tIns="8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5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68" name="Google Shape;2068;p41"/>
          <p:cNvSpPr/>
          <p:nvPr/>
        </p:nvSpPr>
        <p:spPr>
          <a:xfrm>
            <a:off x="209775" y="514450"/>
            <a:ext cx="5933844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69" name="Google Shape;2069;p41"/>
          <p:cNvSpPr txBox="1"/>
          <p:nvPr>
            <p:ph type="title"/>
          </p:nvPr>
        </p:nvSpPr>
        <p:spPr>
          <a:xfrm>
            <a:off x="185850" y="514450"/>
            <a:ext cx="59817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Single-Predictor Regression Screening</a:t>
            </a:r>
            <a:endParaRPr sz="2400"/>
          </a:p>
        </p:txBody>
      </p:sp>
      <p:sp>
        <p:nvSpPr>
          <p:cNvPr id="2070" name="Google Shape;2070;p41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41"/>
          <p:cNvSpPr txBox="1"/>
          <p:nvPr>
            <p:ph idx="3" type="body"/>
          </p:nvPr>
        </p:nvSpPr>
        <p:spPr>
          <a:xfrm>
            <a:off x="21052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sp>
        <p:nvSpPr>
          <p:cNvPr id="2072" name="Google Shape;2072;p41"/>
          <p:cNvSpPr/>
          <p:nvPr/>
        </p:nvSpPr>
        <p:spPr>
          <a:xfrm>
            <a:off x="311700" y="1269275"/>
            <a:ext cx="5934000" cy="1039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Ran simple linear regression on each predictor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Most predictors have low R² individually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Indicates weak standalone predictive power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Categorical variables (country, college tier) show stronger effects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Any value 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labeled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 0 ⁡⁡is &lt;0.001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41"/>
          <p:cNvSpPr/>
          <p:nvPr/>
        </p:nvSpPr>
        <p:spPr>
          <a:xfrm>
            <a:off x="6759150" y="1301100"/>
            <a:ext cx="2385000" cy="100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Removed Variables: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backlogs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internship count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internship quality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communication score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4" name="Google Shape;2074;p41"/>
          <p:cNvPicPr preferRelativeResize="0"/>
          <p:nvPr/>
        </p:nvPicPr>
        <p:blipFill rotWithShape="1">
          <a:blip r:embed="rId3">
            <a:alphaModFix/>
          </a:blip>
          <a:srcRect b="0" l="1088" r="0" t="0"/>
          <a:stretch/>
        </p:blipFill>
        <p:spPr>
          <a:xfrm>
            <a:off x="219736" y="2724150"/>
            <a:ext cx="4158311" cy="1692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5" name="Google Shape;2075;p41"/>
          <p:cNvGrpSpPr/>
          <p:nvPr/>
        </p:nvGrpSpPr>
        <p:grpSpPr>
          <a:xfrm>
            <a:off x="4650475" y="2551775"/>
            <a:ext cx="4435800" cy="2037300"/>
            <a:chOff x="4708200" y="2551800"/>
            <a:chExt cx="4435800" cy="2037300"/>
          </a:xfrm>
        </p:grpSpPr>
        <p:sp>
          <p:nvSpPr>
            <p:cNvPr id="2076" name="Google Shape;2076;p41"/>
            <p:cNvSpPr/>
            <p:nvPr/>
          </p:nvSpPr>
          <p:spPr>
            <a:xfrm>
              <a:off x="4708200" y="2551800"/>
              <a:ext cx="4435800" cy="2037300"/>
            </a:xfrm>
            <a:prstGeom prst="roundRect">
              <a:avLst>
                <a:gd fmla="val 16667" name="adj"/>
              </a:avLst>
            </a:prstGeom>
            <a:solidFill>
              <a:srgbClr val="F6F8FA"/>
            </a:solidFill>
            <a:ln cap="flat" cmpd="sng" w="9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250" lIns="87250" spcFirstLastPara="1" rIns="87250" wrap="square" tIns="87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36"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pic>
          <p:nvPicPr>
            <p:cNvPr id="2077" name="Google Shape;2077;p41"/>
            <p:cNvPicPr preferRelativeResize="0"/>
            <p:nvPr/>
          </p:nvPicPr>
          <p:blipFill rotWithShape="1">
            <a:blip r:embed="rId4">
              <a:alphaModFix/>
            </a:blip>
            <a:srcRect b="0" l="0" r="1235" t="1565"/>
            <a:stretch/>
          </p:blipFill>
          <p:spPr>
            <a:xfrm>
              <a:off x="4781602" y="2697221"/>
              <a:ext cx="4239453" cy="17492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42"/>
          <p:cNvSpPr/>
          <p:nvPr/>
        </p:nvSpPr>
        <p:spPr>
          <a:xfrm>
            <a:off x="1046075" y="3205075"/>
            <a:ext cx="7068600" cy="15039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83" name="Google Shape;2083;p42"/>
          <p:cNvSpPr/>
          <p:nvPr/>
        </p:nvSpPr>
        <p:spPr>
          <a:xfrm>
            <a:off x="1999450" y="1238838"/>
            <a:ext cx="4641300" cy="181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Selected model performs essentially the same as full model, but with fewer variables and slightly better AIC / adjusted R².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Removed as low-value after controlling for others: backlogs, internship_count, communication_score, internship_quality_score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42"/>
          <p:cNvSpPr txBox="1"/>
          <p:nvPr/>
        </p:nvSpPr>
        <p:spPr>
          <a:xfrm>
            <a:off x="209775" y="-396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Student Placement Salary Analysis</a:t>
            </a:r>
            <a:endParaRPr sz="8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85" name="Google Shape;2085;p42"/>
          <p:cNvSpPr/>
          <p:nvPr/>
        </p:nvSpPr>
        <p:spPr>
          <a:xfrm>
            <a:off x="209775" y="514450"/>
            <a:ext cx="2938464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86" name="Google Shape;2086;p42"/>
          <p:cNvSpPr txBox="1"/>
          <p:nvPr>
            <p:ph idx="4294967295" type="title"/>
          </p:nvPr>
        </p:nvSpPr>
        <p:spPr>
          <a:xfrm>
            <a:off x="114300" y="514450"/>
            <a:ext cx="31644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Variable Selection</a:t>
            </a:r>
            <a:endParaRPr sz="2400"/>
          </a:p>
        </p:txBody>
      </p:sp>
      <p:pic>
        <p:nvPicPr>
          <p:cNvPr id="2087" name="Google Shape;20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863" y="3258037"/>
            <a:ext cx="677227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43"/>
          <p:cNvSpPr/>
          <p:nvPr/>
        </p:nvSpPr>
        <p:spPr>
          <a:xfrm>
            <a:off x="5933850" y="1086025"/>
            <a:ext cx="3100200" cy="3220200"/>
          </a:xfrm>
          <a:prstGeom prst="roundRect">
            <a:avLst>
              <a:gd fmla="val 16667" name="adj"/>
            </a:avLst>
          </a:prstGeom>
          <a:solidFill>
            <a:srgbClr val="F6F8F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93" name="Google Shape;2093;p43"/>
          <p:cNvSpPr txBox="1"/>
          <p:nvPr>
            <p:ph type="title"/>
          </p:nvPr>
        </p:nvSpPr>
        <p:spPr>
          <a:xfrm>
            <a:off x="209775" y="514450"/>
            <a:ext cx="44574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094" name="Google Shape;2094;p43"/>
          <p:cNvSpPr/>
          <p:nvPr/>
        </p:nvSpPr>
        <p:spPr>
          <a:xfrm>
            <a:off x="209775" y="514450"/>
            <a:ext cx="3810294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Model Transformation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43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43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graphicFrame>
        <p:nvGraphicFramePr>
          <p:cNvPr id="2097" name="Google Shape;2097;p43"/>
          <p:cNvGraphicFramePr/>
          <p:nvPr/>
        </p:nvGraphicFramePr>
        <p:xfrm>
          <a:off x="6021350" y="131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{757A19E0-3F8D-4AFD-8FCE-A83EFF4DBA8C}</a:tableStyleId>
              </a:tblPr>
              <a:tblGrid>
                <a:gridCol w="1334675"/>
                <a:gridCol w="1503400"/>
              </a:tblGrid>
              <a:tr h="34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Best λ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0.9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86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Interpretation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Box-Cox suggests little or no transformation is needed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Note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Arcsine transformation was not tested because salary is not a 0–1 proportion variable</a:t>
                      </a:r>
                      <a:endParaRPr sz="12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2098" name="Google Shape;2098;p43"/>
          <p:cNvSpPr/>
          <p:nvPr/>
        </p:nvSpPr>
        <p:spPr>
          <a:xfrm>
            <a:off x="311700" y="1184113"/>
            <a:ext cx="5459100" cy="359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099" name="Google Shape;2099;p43" title="4ddba2b1-30c5-4789-819f-17be0d1cf65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75" y="1309625"/>
            <a:ext cx="4858624" cy="332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44"/>
          <p:cNvSpPr/>
          <p:nvPr/>
        </p:nvSpPr>
        <p:spPr>
          <a:xfrm>
            <a:off x="1164000" y="1160725"/>
            <a:ext cx="6816000" cy="311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05" name="Google Shape;2105;p44"/>
          <p:cNvSpPr/>
          <p:nvPr/>
        </p:nvSpPr>
        <p:spPr>
          <a:xfrm>
            <a:off x="209775" y="514450"/>
            <a:ext cx="2775924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06" name="Google Shape;2106;p44"/>
          <p:cNvSpPr txBox="1"/>
          <p:nvPr>
            <p:ph type="title"/>
          </p:nvPr>
        </p:nvSpPr>
        <p:spPr>
          <a:xfrm>
            <a:off x="209775" y="514450"/>
            <a:ext cx="27759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Model Selection</a:t>
            </a:r>
            <a:endParaRPr sz="2400"/>
          </a:p>
        </p:txBody>
      </p:sp>
      <p:sp>
        <p:nvSpPr>
          <p:cNvPr id="2107" name="Google Shape;2107;p44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44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pic>
        <p:nvPicPr>
          <p:cNvPr id="2109" name="Google Shape;21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336" y="1241925"/>
            <a:ext cx="6346527" cy="2928451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Google Shape;2110;p44"/>
          <p:cNvSpPr/>
          <p:nvPr/>
        </p:nvSpPr>
        <p:spPr>
          <a:xfrm>
            <a:off x="1416550" y="4409500"/>
            <a:ext cx="3155400" cy="58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Base selected OLS model:</a:t>
            </a:r>
            <a:r>
              <a:rPr lang="en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salary ~ cgpa + aptitude_score + college_tier + country + university_ranking_band + specialization + industry </a:t>
            </a:r>
            <a:endParaRPr sz="15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11" name="Google Shape;2111;p44"/>
          <p:cNvSpPr/>
          <p:nvPr/>
        </p:nvSpPr>
        <p:spPr>
          <a:xfrm>
            <a:off x="4802950" y="4409500"/>
            <a:ext cx="3155400" cy="58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Interaction OLS model:</a:t>
            </a:r>
            <a:r>
              <a:rPr lang="en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salary ~ cgpa + aptitude_score + college_tier * country + university_ranking_band + specialization + industry </a:t>
            </a:r>
            <a:endParaRPr sz="16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45"/>
          <p:cNvSpPr/>
          <p:nvPr/>
        </p:nvSpPr>
        <p:spPr>
          <a:xfrm>
            <a:off x="1593325" y="1086025"/>
            <a:ext cx="6071400" cy="401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75" lIns="94375" spcFirstLastPara="1" rIns="94375" wrap="square" tIns="94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5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17" name="Google Shape;2117;p45"/>
          <p:cNvSpPr/>
          <p:nvPr/>
        </p:nvSpPr>
        <p:spPr>
          <a:xfrm>
            <a:off x="209775" y="514450"/>
            <a:ext cx="2535624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18" name="Google Shape;2118;p45"/>
          <p:cNvSpPr txBox="1"/>
          <p:nvPr>
            <p:ph type="title"/>
          </p:nvPr>
        </p:nvSpPr>
        <p:spPr>
          <a:xfrm>
            <a:off x="209775" y="514450"/>
            <a:ext cx="25356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Model Selection</a:t>
            </a:r>
            <a:endParaRPr sz="2400"/>
          </a:p>
        </p:txBody>
      </p:sp>
      <p:sp>
        <p:nvSpPr>
          <p:cNvPr id="2119" name="Google Shape;2119;p45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45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pic>
        <p:nvPicPr>
          <p:cNvPr id="2121" name="Google Shape;2121;p45" title="resid_all_mode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044" y="1154314"/>
            <a:ext cx="5350523" cy="3822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46"/>
          <p:cNvSpPr/>
          <p:nvPr/>
        </p:nvSpPr>
        <p:spPr>
          <a:xfrm>
            <a:off x="2164200" y="3605400"/>
            <a:ext cx="4815600" cy="1423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775" lIns="73775" spcFirstLastPara="1" rIns="73775" wrap="square" tIns="73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27" name="Google Shape;2127;p46"/>
          <p:cNvSpPr/>
          <p:nvPr/>
        </p:nvSpPr>
        <p:spPr>
          <a:xfrm>
            <a:off x="4625197" y="1219152"/>
            <a:ext cx="4266300" cy="222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525" lIns="105525" spcFirstLastPara="1" rIns="105525" wrap="square" tIns="105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6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28" name="Google Shape;2128;p46"/>
          <p:cNvSpPr/>
          <p:nvPr/>
        </p:nvSpPr>
        <p:spPr>
          <a:xfrm>
            <a:off x="252513" y="1180838"/>
            <a:ext cx="4015500" cy="228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225" lIns="102225" spcFirstLastPara="1" rIns="102225" wrap="square" tIns="102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29" name="Google Shape;2129;p46"/>
          <p:cNvSpPr/>
          <p:nvPr/>
        </p:nvSpPr>
        <p:spPr>
          <a:xfrm>
            <a:off x="216925" y="526875"/>
            <a:ext cx="2680020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Model Building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130" name="Google Shape;213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603" y="3667952"/>
            <a:ext cx="4614018" cy="126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1" name="Google Shape;2131;p46" title="country_specialization_interactio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162" y="1313676"/>
            <a:ext cx="3740124" cy="2039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2" name="Google Shape;2132;p46" title="resid_final_ols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937" y="1284090"/>
            <a:ext cx="3861278" cy="2105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33" name="Google Shape;2133;p46"/>
          <p:cNvSpPr txBox="1"/>
          <p:nvPr/>
        </p:nvSpPr>
        <p:spPr>
          <a:xfrm>
            <a:off x="216925" y="-396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rPr>
              <a:t>Student Placement Salary Analysis</a:t>
            </a:r>
            <a:endParaRPr sz="800">
              <a:solidFill>
                <a:schemeClr val="l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47"/>
          <p:cNvSpPr/>
          <p:nvPr/>
        </p:nvSpPr>
        <p:spPr>
          <a:xfrm>
            <a:off x="209775" y="514450"/>
            <a:ext cx="6180300" cy="517212"/>
          </a:xfrm>
          <a:prstGeom prst="flowChartTerminator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39" name="Google Shape;2139;p47"/>
          <p:cNvSpPr txBox="1"/>
          <p:nvPr>
            <p:ph type="title"/>
          </p:nvPr>
        </p:nvSpPr>
        <p:spPr>
          <a:xfrm>
            <a:off x="209775" y="514450"/>
            <a:ext cx="61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Multiple Regression and Model Selection</a:t>
            </a:r>
            <a:endParaRPr sz="2400"/>
          </a:p>
        </p:txBody>
      </p:sp>
      <p:sp>
        <p:nvSpPr>
          <p:cNvPr id="2140" name="Google Shape;2140;p47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47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sp>
        <p:nvSpPr>
          <p:cNvPr id="2142" name="Google Shape;2142;p47"/>
          <p:cNvSpPr/>
          <p:nvPr/>
        </p:nvSpPr>
        <p:spPr>
          <a:xfrm>
            <a:off x="282900" y="2441200"/>
            <a:ext cx="8578200" cy="2251500"/>
          </a:xfrm>
          <a:prstGeom prst="flowChartAlternateProcess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3" name="Google Shape;2143;p47"/>
          <p:cNvGraphicFramePr/>
          <p:nvPr/>
        </p:nvGraphicFramePr>
        <p:xfrm>
          <a:off x="457375" y="256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{757A19E0-3F8D-4AFD-8FCE-A83EFF4DBA8C}</a:tableStyleId>
              </a:tblPr>
              <a:tblGrid>
                <a:gridCol w="912600"/>
                <a:gridCol w="3860300"/>
                <a:gridCol w="949750"/>
                <a:gridCol w="887475"/>
                <a:gridCol w="1619125"/>
              </a:tblGrid>
              <a:tr h="30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Model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Predictors Included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 R²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Notes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4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Full Model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All predictors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124024.16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0.946642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Baseline comparison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2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Stepwise Model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cgpa + aptitude_score + college_tier * country +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university_ranking_band + specialization + industry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124017.23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0.946667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Candidate final model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3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Final Model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cgpa + aptitude_score + college_tier * country +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country * specialization + university_ranking_band + industry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122448.65 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0.958829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Selected after diagnostics 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2144" name="Google Shape;2144;p47"/>
          <p:cNvSpPr/>
          <p:nvPr/>
        </p:nvSpPr>
        <p:spPr>
          <a:xfrm>
            <a:off x="2860925" y="1143000"/>
            <a:ext cx="3310500" cy="1217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Fit full model with all predictors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Used stepwise AIC for model selection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Compared models using: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Adjusted R²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- AIC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48"/>
          <p:cNvSpPr/>
          <p:nvPr/>
        </p:nvSpPr>
        <p:spPr>
          <a:xfrm>
            <a:off x="2493400" y="1143000"/>
            <a:ext cx="5129400" cy="388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0" name="Google Shape;2150;p48"/>
          <p:cNvSpPr/>
          <p:nvPr/>
        </p:nvSpPr>
        <p:spPr>
          <a:xfrm>
            <a:off x="209775" y="514450"/>
            <a:ext cx="4873770" cy="517212"/>
          </a:xfrm>
          <a:prstGeom prst="flowChartTermina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1" name="Google Shape;2151;p48"/>
          <p:cNvSpPr txBox="1"/>
          <p:nvPr>
            <p:ph type="title"/>
          </p:nvPr>
        </p:nvSpPr>
        <p:spPr>
          <a:xfrm>
            <a:off x="209775" y="514450"/>
            <a:ext cx="50538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Model Diagnostics &amp; Validation</a:t>
            </a:r>
            <a:endParaRPr sz="2400"/>
          </a:p>
        </p:txBody>
      </p:sp>
      <p:sp>
        <p:nvSpPr>
          <p:cNvPr id="2152" name="Google Shape;2152;p48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48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sp>
        <p:nvSpPr>
          <p:cNvPr id="2154" name="Google Shape;2154;p48"/>
          <p:cNvSpPr/>
          <p:nvPr/>
        </p:nvSpPr>
        <p:spPr>
          <a:xfrm>
            <a:off x="404925" y="1277900"/>
            <a:ext cx="1684200" cy="2391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Final 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Model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5" name="Google Shape;215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775" y="1277900"/>
            <a:ext cx="4404201" cy="36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49"/>
          <p:cNvSpPr/>
          <p:nvPr/>
        </p:nvSpPr>
        <p:spPr>
          <a:xfrm>
            <a:off x="238850" y="1168050"/>
            <a:ext cx="8643900" cy="35130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61" name="Google Shape;2161;p49"/>
          <p:cNvSpPr/>
          <p:nvPr/>
        </p:nvSpPr>
        <p:spPr>
          <a:xfrm>
            <a:off x="209775" y="514450"/>
            <a:ext cx="2078082" cy="517212"/>
          </a:xfrm>
          <a:prstGeom prst="flowChartTermina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62" name="Google Shape;2162;p49"/>
          <p:cNvSpPr txBox="1"/>
          <p:nvPr>
            <p:ph type="title"/>
          </p:nvPr>
        </p:nvSpPr>
        <p:spPr>
          <a:xfrm>
            <a:off x="209775" y="514450"/>
            <a:ext cx="20781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Final Model</a:t>
            </a:r>
            <a:endParaRPr sz="2400"/>
          </a:p>
        </p:txBody>
      </p:sp>
      <p:sp>
        <p:nvSpPr>
          <p:cNvPr id="2163" name="Google Shape;2163;p49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49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pic>
        <p:nvPicPr>
          <p:cNvPr id="2165" name="Google Shape;2165;p49"/>
          <p:cNvPicPr preferRelativeResize="0"/>
          <p:nvPr/>
        </p:nvPicPr>
        <p:blipFill rotWithShape="1">
          <a:blip r:embed="rId3">
            <a:alphaModFix/>
          </a:blip>
          <a:srcRect b="0" l="0" r="0" t="10450"/>
          <a:stretch/>
        </p:blipFill>
        <p:spPr>
          <a:xfrm>
            <a:off x="563600" y="1371600"/>
            <a:ext cx="8075173" cy="309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6" name="Google Shape;2166;p49"/>
          <p:cNvSpPr/>
          <p:nvPr/>
        </p:nvSpPr>
        <p:spPr>
          <a:xfrm>
            <a:off x="656125" y="1960226"/>
            <a:ext cx="7071000" cy="223800"/>
          </a:xfrm>
          <a:prstGeom prst="rect">
            <a:avLst/>
          </a:prstGeom>
          <a:solidFill>
            <a:srgbClr val="F5F5F5"/>
          </a:solidFill>
          <a:ln cap="flat" cmpd="sng" w="11025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775" lIns="105775" spcFirstLastPara="1" rIns="105775" wrap="square" tIns="10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50"/>
          <p:cNvSpPr/>
          <p:nvPr/>
        </p:nvSpPr>
        <p:spPr>
          <a:xfrm>
            <a:off x="1750625" y="1203000"/>
            <a:ext cx="5627700" cy="372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72" name="Google Shape;2172;p50"/>
          <p:cNvSpPr/>
          <p:nvPr/>
        </p:nvSpPr>
        <p:spPr>
          <a:xfrm>
            <a:off x="209775" y="514450"/>
            <a:ext cx="4064094" cy="517212"/>
          </a:xfrm>
          <a:prstGeom prst="flowChartTermina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73" name="Google Shape;2173;p50"/>
          <p:cNvSpPr txBox="1"/>
          <p:nvPr>
            <p:ph type="title"/>
          </p:nvPr>
        </p:nvSpPr>
        <p:spPr>
          <a:xfrm>
            <a:off x="209775" y="514450"/>
            <a:ext cx="44574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Final Model Interpretation</a:t>
            </a:r>
            <a:endParaRPr sz="2400"/>
          </a:p>
        </p:txBody>
      </p:sp>
      <p:sp>
        <p:nvSpPr>
          <p:cNvPr id="2174" name="Google Shape;2174;p50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50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pic>
        <p:nvPicPr>
          <p:cNvPr id="2176" name="Google Shape;2176;p50" title="salary_vs_cgp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946" y="1277899"/>
            <a:ext cx="4960108" cy="354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51"/>
          <p:cNvSpPr/>
          <p:nvPr/>
        </p:nvSpPr>
        <p:spPr>
          <a:xfrm>
            <a:off x="209775" y="514450"/>
            <a:ext cx="1948212" cy="517212"/>
          </a:xfrm>
          <a:prstGeom prst="flowChartTerminator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82" name="Google Shape;2182;p51"/>
          <p:cNvSpPr txBox="1"/>
          <p:nvPr>
            <p:ph type="title"/>
          </p:nvPr>
        </p:nvSpPr>
        <p:spPr>
          <a:xfrm>
            <a:off x="193850" y="514450"/>
            <a:ext cx="26952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Conclusion</a:t>
            </a:r>
            <a:endParaRPr sz="2400"/>
          </a:p>
        </p:txBody>
      </p:sp>
      <p:sp>
        <p:nvSpPr>
          <p:cNvPr id="2183" name="Google Shape;2183;p51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51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sp>
        <p:nvSpPr>
          <p:cNvPr id="2185" name="Google Shape;2185;p51"/>
          <p:cNvSpPr/>
          <p:nvPr/>
        </p:nvSpPr>
        <p:spPr>
          <a:xfrm>
            <a:off x="375275" y="1485900"/>
            <a:ext cx="2572800" cy="3351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86" name="Google Shape;2186;p51"/>
          <p:cNvSpPr/>
          <p:nvPr/>
        </p:nvSpPr>
        <p:spPr>
          <a:xfrm>
            <a:off x="3285575" y="1485900"/>
            <a:ext cx="2572800" cy="3351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7" name="Google Shape;2187;p51"/>
          <p:cNvSpPr/>
          <p:nvPr/>
        </p:nvSpPr>
        <p:spPr>
          <a:xfrm>
            <a:off x="6195900" y="1485900"/>
            <a:ext cx="2572800" cy="3351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51"/>
          <p:cNvSpPr txBox="1"/>
          <p:nvPr/>
        </p:nvSpPr>
        <p:spPr>
          <a:xfrm>
            <a:off x="812375" y="1783350"/>
            <a:ext cx="1698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Diagnostics 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89" name="Google Shape;2189;p51"/>
          <p:cNvSpPr txBox="1"/>
          <p:nvPr/>
        </p:nvSpPr>
        <p:spPr>
          <a:xfrm>
            <a:off x="3480225" y="1783350"/>
            <a:ext cx="21144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Conclusion 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0" name="Google Shape;2190;p51"/>
          <p:cNvSpPr txBox="1"/>
          <p:nvPr/>
        </p:nvSpPr>
        <p:spPr>
          <a:xfrm>
            <a:off x="6486575" y="1783350"/>
            <a:ext cx="1900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Future Work</a:t>
            </a:r>
            <a:endParaRPr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1" name="Google Shape;2191;p51"/>
          <p:cNvSpPr txBox="1"/>
          <p:nvPr/>
        </p:nvSpPr>
        <p:spPr>
          <a:xfrm>
            <a:off x="687575" y="2413050"/>
            <a:ext cx="1948200" cy="21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Residual vs fitted plot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QQ plot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Checked for constant variance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Checked influential points (Cook’s D, leverage)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2" name="Google Shape;2192;p51"/>
          <p:cNvSpPr txBox="1"/>
          <p:nvPr/>
        </p:nvSpPr>
        <p:spPr>
          <a:xfrm>
            <a:off x="3563313" y="2300550"/>
            <a:ext cx="1948200" cy="20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Strongest predictor: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Country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Salary influenced more by categorical factors than numeric ones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Salary cap at 120,000 affects results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3" name="Google Shape;2193;p51"/>
          <p:cNvSpPr txBox="1"/>
          <p:nvPr/>
        </p:nvSpPr>
        <p:spPr>
          <a:xfrm>
            <a:off x="6633000" y="2389850"/>
            <a:ext cx="1698600" cy="20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Try log(salary)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Explore interaction effects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Analyze by country separately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52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52"/>
          <p:cNvSpPr/>
          <p:nvPr/>
        </p:nvSpPr>
        <p:spPr>
          <a:xfrm>
            <a:off x="2040175" y="1949250"/>
            <a:ext cx="4979400" cy="1245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Questions ? 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00" name="Google Shape;2200;p52"/>
          <p:cNvSpPr txBox="1"/>
          <p:nvPr>
            <p:ph idx="3" type="body"/>
          </p:nvPr>
        </p:nvSpPr>
        <p:spPr>
          <a:xfrm>
            <a:off x="209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Placement Salary Analysis</a:t>
            </a:r>
            <a:endParaRPr/>
          </a:p>
        </p:txBody>
      </p:sp>
      <p:sp>
        <p:nvSpPr>
          <p:cNvPr id="2201" name="Google Shape;2201;p52"/>
          <p:cNvSpPr/>
          <p:nvPr/>
        </p:nvSpPr>
        <p:spPr>
          <a:xfrm>
            <a:off x="2549100" y="3306500"/>
            <a:ext cx="4045800" cy="586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 Light"/>
                <a:ea typeface="Lexend Light"/>
                <a:cs typeface="Lexend Light"/>
                <a:sym typeface="Lexend Light"/>
              </a:rPr>
              <a:t>Good Luck on Finals!</a:t>
            </a:r>
            <a:endParaRPr sz="24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